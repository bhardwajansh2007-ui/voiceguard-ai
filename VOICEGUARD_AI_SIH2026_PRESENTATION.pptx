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SPEAKER SCRIPT &amp; DEFENSE]</a:t>
            </a:r>
          </a:p>
          <a:p>
            <a:r>
              <a:t>Good morning, respected judges and members of the jury.</a:t>
            </a:r>
          </a:p>
          <a:p>
            <a:r>
              <a:t>Today, we present VoiceGuard AI: a Real-Time Voice Integrity &amp; Impersonation Defense Platform.</a:t>
            </a:r>
          </a:p>
          <a:p/>
          <a:p>
            <a:r>
              <a:t>THE CORE STATEMENT:</a:t>
            </a:r>
          </a:p>
          <a:p>
            <a:r>
              <a:t>With modern diffusion and neural vocoder architectures, an attacker needs less than 3 seconds of reference audio to clone any human voice with photorealistic acoustic fidelity. Traditional caller ID and human voice familiarity are no longer viable security boundaries.</a:t>
            </a:r>
          </a:p>
          <a:p/>
          <a:p>
            <a:r>
              <a:t>VoiceGuard AI is NOT another calling app, and it is NOT merely a post-incident deepfake detector. VoiceGuard AI is a real-time cybersecurity defense layer that sits between live voice channels and downstream sensitive execution gates (such as wire transfers, credential resets, and emergency authorizations) to detect, score, challenge, and freeze unauthorized actions before damage occurs.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SPEAKER SCRIPT &amp; DEFENSE]</a:t>
            </a:r>
          </a:p>
          <a:p>
            <a:r>
              <a:t>JUDGES' TYPICAL QUESTION: "Is this really a technical cybersecurity problem, or just social engineering that requires user awareness?"</a:t>
            </a:r>
          </a:p>
          <a:p/>
          <a:p>
            <a:r>
              <a:t>DEFENSE ARGUMENT:</a:t>
            </a:r>
          </a:p>
          <a:p>
            <a:r>
              <a:t>1. Awareness training fails against zero-shot voice cloning because human ear frequency perception cannot distinguish phase inconsistencies or neural vocoder synthesis artifacts.</a:t>
            </a:r>
          </a:p>
          <a:p>
            <a:r>
              <a:t>2. In recent real-world incidents, a Hong Kong multinational lost $25M when a finance worker was ordered on a deepfake multi-person video call. UK and US energy firms suffered millions in losses via single cloned CEO phone calls.</a:t>
            </a:r>
          </a:p>
          <a:p>
            <a:r>
              <a:t>3. The fundamental flaw: Enterprise security models demand multi-factor authentication for a $50 SaaS login, but a $5,000,000 corporate bank wire can be authorized via a 45-second phone confirmation without continuous integrity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SPEAKER SCRIPT &amp; DEFENSE]</a:t>
            </a:r>
          </a:p>
          <a:p>
            <a:r>
              <a:t>JUDGES' QUESTION: "Doesn't STIR/SHAKEN already solve phone spoofing? Why do we need VoiceGuard?"</a:t>
            </a:r>
          </a:p>
          <a:p/>
          <a:p>
            <a:r>
              <a:t>DEFENSE ARGUMENT:</a:t>
            </a:r>
          </a:p>
          <a:p>
            <a:r>
              <a:t>STIR/SHAKEN only cryptographically signs the Caller ID header in SIP telephony. It proves that the call originated from a licensed carrier switch owning that number. It says NOTHING about whether the person speaking is an executive or an AI voice clone running through a softphone.</a:t>
            </a:r>
          </a:p>
          <a:p>
            <a:r>
              <a:t>Furthermore, STIR/SHAKEN does not exist on WhatsApp voice calls, Google Meet, Teams, or private WebRTC trunking—where most modern enterprise impersonation attacks occur.</a:t>
            </a:r>
          </a:p>
          <a:p/>
          <a:p>
            <a:r>
              <a:t>VoiceGuard operates at the acoustic content and behavioral risk layer, remaining agnostic to the underlying telecom or VoIP transport.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SPEAKER SCRIPT &amp; DEFENSE]</a:t>
            </a:r>
          </a:p>
          <a:p>
            <a:r>
              <a:t>KEY DEFENSE POSITIONING:</a:t>
            </a:r>
          </a:p>
          <a:p>
            <a:r>
              <a:t>Judges may ask: "Why would an enterprise adopt this instead of building their own audio classifier?"</a:t>
            </a:r>
          </a:p>
          <a:p/>
          <a:p>
            <a:r>
              <a:t>OUR ANSWER:</a:t>
            </a:r>
          </a:p>
          <a:p>
            <a:r>
              <a:t>Detection is only 20% of the problem. If a model detects a clone after 10 seconds, what happens? Does an alert get buried in a SIEM queue while a $2M wire is dispatched?</a:t>
            </a:r>
          </a:p>
          <a:p>
            <a:r>
              <a:t>VoiceGuard is an active defense engine. We close the loop between detection and prevention by establishing an inline policy gate:</a:t>
            </a:r>
          </a:p>
          <a:p>
            <a:r>
              <a:t>If Threat Score &gt;= 70 AND the call attempts a Sensitive Action (e.g., Wire Transfer), the system fires a synchronous webhook to the banking core: HOLD_SENSITIVE_ACTION.</a:t>
            </a:r>
          </a:p>
          <a:p>
            <a:r>
              <a:t>This stops fraud at the moment of authorization, not hours later during forensics.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SPEAKER SCRIPT &amp; DEFENSE]</a:t>
            </a:r>
          </a:p>
          <a:p>
            <a:r>
              <a:t>JUDGES' QUESTION: "How does your architecture achieve real-time latency without lagging the phone call?"</a:t>
            </a:r>
          </a:p>
          <a:p/>
          <a:p>
            <a:r>
              <a:t>DEFENSE ARGUMENT:</a:t>
            </a:r>
          </a:p>
          <a:p>
            <a:r>
              <a:t>1. Asynchronous Ingestion: Audio streaming is decoupled from the telecom call via an asynchronous WebRTC tap or SIP fork. The conversation audio is never blocked in transit.</a:t>
            </a:r>
          </a:p>
          <a:p>
            <a:r>
              <a:t>2. Parallel Model Inference: The synthetic discriminator and the biometric matcher execute concurrently using ONNX Runtime / TensorRT.</a:t>
            </a:r>
          </a:p>
          <a:p>
            <a:r>
              <a:t>3. 500ms Hop Sliding Window: We don't wait for the call to finish. We process sliding 3-second windows every 500ms. By the 2nd second of an urgent command, VoiceGuard has already evaluated 4 inference windows and determined risk.</a:t>
            </a:r>
          </a:p>
          <a:p>
            <a:r>
              <a:t>4. Total processing latency per window is under 150ms on modest GPU hardware, easily beating human transaction decision speed.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SPEAKER SCRIPT &amp; DEFENSE]</a:t>
            </a:r>
          </a:p>
          <a:p>
            <a:r>
              <a:t>JUDGES' QUESTION: "Why choose a 3-second window with 500ms hop instead of analyzing frame-by-frame (e.g., 20ms)?"</a:t>
            </a:r>
          </a:p>
          <a:p/>
          <a:p>
            <a:r>
              <a:t>DEFENSE ARGUMENT:</a:t>
            </a:r>
          </a:p>
          <a:p>
            <a:r>
              <a:t>1. Frame-by-frame (20ms) analysis is insufficient for deepfake detection. Modern neural speech synthesizers generate speech phoneme-by-phoneme. An isolated 20ms vowel contains no vocoder phase pattern or prosodic inflection.</a:t>
            </a:r>
          </a:p>
          <a:p>
            <a:r>
              <a:t>2. Research benchmarks demonstrate that 3 seconds is the optimal duration for acoustic feature stabilization while maintaining a sub-second response.</a:t>
            </a:r>
          </a:p>
          <a:p>
            <a:r>
              <a:t>3. The 500ms hop size provides continuous rolling verification. We do NOT wait 3 seconds for each new verdict; every 500ms, the sliding window drops the oldest 500ms and ingests the newest 500ms, computing an updated risk score.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SPEAKER SCRIPT &amp; DEFENSE]</a:t>
            </a:r>
          </a:p>
          <a:p>
            <a:r>
              <a:t>JUDGES' QUESTION: "What happens if a new deepfake model comes out that your neural network hasn't seen? Won't your system fail?"</a:t>
            </a:r>
          </a:p>
          <a:p/>
          <a:p>
            <a:r>
              <a:t>DEFENSE ARGUMENT:</a:t>
            </a:r>
          </a:p>
          <a:p>
            <a:r>
              <a:t>That is precisely why we do NOT rely on a single classifier.</a:t>
            </a:r>
          </a:p>
          <a:p>
            <a:r>
              <a:t>1. The Dual Ensemble Principle: An attacker has to fool BOTH the anti-spoof discriminator AND match the 192-dimensional ECAPA-TDNN biometric embedding.</a:t>
            </a:r>
          </a:p>
          <a:p>
            <a:r>
              <a:t>2. In real attacks, if an impostor uses an un-cloned voice, the biometric model catches them. If they use an AI voice clone, the anti-spoof model catches vocoder phase artifacts.</a:t>
            </a:r>
          </a:p>
          <a:p>
            <a:r>
              <a:t>3. If both models are uncertain, our Multi-Signal Risk Fusion Engine factors in the Context &amp; Action Sensitivity. A high-value wire transfer requires higher confidence than a casual greeting.</a:t>
            </a:r>
          </a:p>
          <a:p>
            <a:r>
              <a:t>4. If GPU resources fail, our CPU heuristic engine evaluates spectral flatness and harmonic anomalies to maintain security posture.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SPEAKER SCRIPT &amp; DEFENSE]</a:t>
            </a:r>
          </a:p>
          <a:p>
            <a:r>
              <a:t>JUDGES' QUESTION: "Why convert AI model outputs into a 0-100 score instead of just using a threshold on the classifier?"</a:t>
            </a:r>
          </a:p>
          <a:p/>
          <a:p>
            <a:r>
              <a:t>DEFENSE ARGUMENT:</a:t>
            </a:r>
          </a:p>
          <a:p>
            <a:r>
              <a:t>1. Binary classification fails in enterprise risk management.</a:t>
            </a:r>
          </a:p>
          <a:p>
            <a:r>
              <a:t>2. Background noise, poor cellular reception, or low-cost microphones produce natural acoustic degradation. A binary classifier would trigger massive false alarms.</a:t>
            </a:r>
          </a:p>
          <a:p>
            <a:r>
              <a:t>3. By fusing multiple orthogonal signals (Synthetic artifacts + Biometric distance + Action Sensitivity) into a calibrated 0-100 score, we enable proportionate risk-based escalation:</a:t>
            </a:r>
          </a:p>
          <a:p>
            <a:r>
              <a:t>   - A score of 45 on a casual hello requires no intervention.</a:t>
            </a:r>
          </a:p>
          <a:p>
            <a:r>
              <a:t>   - That same score of 45 on an emergency $1,000,000 wire transfer automatically triggers secondary out-of-band verification.</a:t>
            </a:r>
          </a:p>
          <a:p>
            <a:r>
              <a:t>   - A score of 78 halts the transaction instantly.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SPEAKER SCRIPT &amp; DEFENSE]</a:t>
            </a:r>
          </a:p>
          <a:p>
            <a:r>
              <a:t>JUDGES' QUESTION: "What if the call is legitimate, but the system triggers a HOLD? Doesn't that hurt business operations?"</a:t>
            </a:r>
          </a:p>
          <a:p/>
          <a:p>
            <a:r>
              <a:t>DEFENSE ARGUMENT:</a:t>
            </a:r>
          </a:p>
          <a:p>
            <a:r>
              <a:t>1. Two-Tiered Escalation: Between 40 and 69, we do NOT freeze the action. We escalate to ADDITIONAL_VERIFICATION. The caller simply receives an instant push confirmation or is asked to state a dynamically generated out-of-band verification token.</a:t>
            </a:r>
          </a:p>
          <a:p>
            <a:r>
              <a:t>2. A HOLD is only triggered when multiple critical signals converge: high synthetic vocoder score + biometric divergence + high-value action.</a:t>
            </a:r>
          </a:p>
          <a:p>
            <a:r>
              <a:t>3. In corporate banking, a 2-minute supervisor verification delay on a $10M transfer is standard operating procedure. A $10M irreversible loss to a deepfake is an existential catastrophe.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SPEAKER SCRIPT &amp; DEFENSE]</a:t>
            </a:r>
          </a:p>
          <a:p>
            <a:r>
              <a:t>JUDGES' QUESTION: "Hackathons love using blockchain. Why didn't you use Ethereum or Solana for your audit trail?"</a:t>
            </a:r>
          </a:p>
          <a:p/>
          <a:p>
            <a:r>
              <a:t>DEFENSE ARGUMENT:</a:t>
            </a:r>
          </a:p>
          <a:p>
            <a:r>
              <a:t>We made a conscious, senior-architect decision NOT to use public blockchains:</a:t>
            </a:r>
          </a:p>
          <a:p>
            <a:r>
              <a:t>1. Latency: VoiceGuard must make decisions in under 150 milliseconds. Waiting for decentralized block consensus defeats real-time defense.</a:t>
            </a:r>
          </a:p>
          <a:p>
            <a:r>
              <a:t>2. Privacy &amp; Compliance: Under India's Digital Personal Data Protection Act (DPDPA 2023) and GDPR, recording session identifiers on a globally replicated public ledger violates data sovereignty and the right to erasure.</a:t>
            </a:r>
          </a:p>
          <a:p>
            <a:r>
              <a:t>3. Our Solution: We implement a Cryptographic Hash Chain stored in a secured enterprise database. It provides identical mathematical proof of immutability with zero gas fees and zero latency.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SPEAKER SCRIPT &amp; DEFENSE]</a:t>
            </a:r>
          </a:p>
          <a:p>
            <a:r>
              <a:t>JUDGES' QUESTION: "Is VoiceGuard listening to private corporate conversations? How do you protect user privacy?"</a:t>
            </a:r>
          </a:p>
          <a:p/>
          <a:p>
            <a:r>
              <a:t>DEFENSE ARGUMENT:</a:t>
            </a:r>
          </a:p>
          <a:p>
            <a:r>
              <a:t>1. We adhere strictly to Privacy-by-Design: VoiceGuard does NOT transcribe speech content, and it does NOT record audio to disk.</a:t>
            </a:r>
          </a:p>
          <a:p>
            <a:r>
              <a:t>2. Memory Ephemerality: Audio frames reside in volatile RAM only for the 3-second sliding window duration. Once feature vectors are computed, the raw PCM samples are wiped from memory.</a:t>
            </a:r>
          </a:p>
          <a:p>
            <a:r>
              <a:t>3. Irreversibility: Stored voiceprints are 192-dimensional numerical vectors. You cannot reconstruct a human voice or spoken words from an embedding vector.</a:t>
            </a:r>
          </a:p>
          <a:p>
            <a:r>
              <a:t>4. This ensures full compliance with India's DPDPA 2023 and European GDPR Article 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SPEAKER SCRIPT &amp; DEFENSE]</a:t>
            </a:r>
          </a:p>
          <a:p>
            <a:r>
              <a:t>DEMONSTRATION DISCLOSURE &amp; HONESTY (VITAL FOR JUDGES):</a:t>
            </a:r>
          </a:p>
          <a:p>
            <a:r>
              <a:t>Judges will ask: "Are you tapping an actual Reliance Jio or Airtel telecom tower right now?"</a:t>
            </a:r>
          </a:p>
          <a:p/>
          <a:p>
            <a:r>
              <a:t>OUR HONEST, TECHNICALLY RIGOROUS ANSWER:</a:t>
            </a:r>
          </a:p>
          <a:p>
            <a:r>
              <a:t>"No telecom provider grants direct SS7 or core network tap access to hackathon student teams without carrier-grade operator licensing and telecom regulatory clearance.</a:t>
            </a:r>
          </a:p>
          <a:p>
            <a:r>
              <a:t>Therefore, for this demonstration, we have built an integrated Communication Sandbox and WebRTC Gateway that mirrors the exact same 16 kHz PCM RTP audio stream produced by an enterprise PBX or VoIP trunk. The inference pipeline, risk engine, and policy gates are 100% real and running live right now on our servers."</a:t>
            </a:r>
          </a:p>
          <a:p>
            <a:r>
              <a:t>Judges deeply respect this engineering honesty over fake claims.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SPEAKER SCRIPT &amp; DEFENSE]</a:t>
            </a:r>
          </a:p>
          <a:p>
            <a:r>
              <a:t>JUDGES' QUESTION: "Can this system scale to an enterprise bank handling 10,000 phone calls at the same time?"</a:t>
            </a:r>
          </a:p>
          <a:p/>
          <a:p>
            <a:r>
              <a:t>DEFENSE ARGUMENT:</a:t>
            </a:r>
          </a:p>
          <a:p>
            <a:r>
              <a:t>1. The 150ms latency budget ensures that inference easily outpaces the 500ms audio hop size. This means the system never builds up a processing queue during a live conversation.</a:t>
            </a:r>
          </a:p>
          <a:p>
            <a:r>
              <a:t>2. For 10,000 concurrent calls: We use stateless ingestion workers and GPU worker pools. Furthermore, VoiceGuard does NOT need to run full WavLM models on every sentence of a call.</a:t>
            </a:r>
          </a:p>
          <a:p>
            <a:r>
              <a:t>3. Selective Dynamic Profiling: Calls remain in lightweight acoustic monitoring mode (VAD + heuristic checks) until either an acoustic anomaly is detected or an action-sensitive intent is triggered (e.g., wire transfer, password reset). At that point, full dual-ensemble neural inference engages. This reduces GPU compute requirements by over 75%.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SPEAKER SCRIPT &amp; DEFENSE]</a:t>
            </a:r>
          </a:p>
          <a:p>
            <a:r>
              <a:t>JUDGES' QUESTION: "Who is the primary buyer and what is the business case?"</a:t>
            </a:r>
          </a:p>
          <a:p/>
          <a:p>
            <a:r>
              <a:t>DEFENSE ARGUMENT:</a:t>
            </a:r>
          </a:p>
          <a:p>
            <a:r>
              <a:t>1. Enterprise IT &amp; Financial Services are our primary commercial beachhead.</a:t>
            </a:r>
          </a:p>
          <a:p>
            <a:r>
              <a:t>2. The Business Case is immediate loss avoidance. IT helpdesk voice spoofing was the primary initial breach vector behind the MGM Resorts and Caesars Entertainment cyberattacks, causing over $100M in damages.</a:t>
            </a:r>
          </a:p>
          <a:p>
            <a:r>
              <a:t>3. Traditional MFA secures web logins, but phone calls remain an unauthenticated backdoor into identity stores. VoiceGuard plugs this gap.</a:t>
            </a:r>
          </a:p>
          <a:p>
            <a:r>
              <a:t>4. For Government &amp; Defense, VoiceGuard provides a sovereign, air-gappable defense middleware to protect critical command nodes from cognitive warfare and deepfake deception.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SPEAKER SCRIPT &amp; DEFENSE]</a:t>
            </a:r>
          </a:p>
          <a:p>
            <a:r>
              <a:t>FINAL CLOSING REMARKS FOR JURY:</a:t>
            </a:r>
          </a:p>
          <a:p>
            <a:r>
              <a:t>Respected judges:</a:t>
            </a:r>
          </a:p>
          <a:p>
            <a:r>
              <a:t>Voice communication has been the bedrock of human trust for thousands of years. Generative AI has broken that trust in less than 24 months.</a:t>
            </a:r>
          </a:p>
          <a:p>
            <a:r>
              <a:t>VoiceGuard AI repairs this foundation. We do not attempt to rebuild telecom networks, and we do not replace core banking engines. We wrap them in an intelligent, zero-trust cybersecurity layer that detects synthetic deception, halts unauthorized actions in real time, and cryptographically records every forensic event.</a:t>
            </a:r>
          </a:p>
          <a:p/>
          <a:p>
            <a:r>
              <a:t>Our working prototype is live, tested, and ready for your interactive evaluation.</a:t>
            </a:r>
          </a:p>
          <a:p>
            <a:r>
              <a:t>Thank you, and we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463040"/>
            <a:ext cx="109728" cy="2926080"/>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51560" y="1463040"/>
            <a:ext cx="4114800" cy="347472"/>
          </a:xfrm>
          <a:prstGeom prst="roundRect">
            <a:avLst/>
          </a:prstGeom>
          <a:solidFill>
            <a:srgbClr val="131B2E"/>
          </a:solidFill>
          <a:ln>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EA5E9"/>
                </a:solidFill>
              </a:defRPr>
            </a:pPr>
            <a:r>
              <a:t>SMART INDIA HACKATHON 2026  |  CYBERSECURITY TRACK</a:t>
            </a:r>
          </a:p>
        </p:txBody>
      </p:sp>
      <p:sp>
        <p:nvSpPr>
          <p:cNvPr id="5" name="TextBox 4"/>
          <p:cNvSpPr txBox="1"/>
          <p:nvPr/>
        </p:nvSpPr>
        <p:spPr>
          <a:xfrm>
            <a:off x="1051560" y="1920240"/>
            <a:ext cx="10058400" cy="1188720"/>
          </a:xfrm>
          <a:prstGeom prst="rect">
            <a:avLst/>
          </a:prstGeom>
          <a:noFill/>
        </p:spPr>
        <p:txBody>
          <a:bodyPr wrap="square">
            <a:spAutoFit/>
          </a:bodyPr>
          <a:lstStyle/>
          <a:p>
            <a:pPr>
              <a:defRPr sz="4400" b="1">
                <a:solidFill>
                  <a:srgbClr val="F8FAFC"/>
                </a:solidFill>
              </a:defRPr>
            </a:pPr>
            <a:r>
              <a:t>VOICEGUARD AI</a:t>
            </a:r>
          </a:p>
          <a:p>
            <a:pPr>
              <a:defRPr sz="2200" b="1">
                <a:solidFill>
                  <a:srgbClr val="14B8A6"/>
                </a:solidFill>
              </a:defRPr>
            </a:pPr>
            <a:r>
              <a:t>Real-Time Voice Integrity &amp; Impersonation Defense Platform</a:t>
            </a:r>
          </a:p>
        </p:txBody>
      </p:sp>
      <p:sp>
        <p:nvSpPr>
          <p:cNvPr id="6" name="TextBox 5"/>
          <p:cNvSpPr txBox="1"/>
          <p:nvPr/>
        </p:nvSpPr>
        <p:spPr>
          <a:xfrm>
            <a:off x="1051560" y="3291840"/>
            <a:ext cx="9601200" cy="914400"/>
          </a:xfrm>
          <a:prstGeom prst="rect">
            <a:avLst/>
          </a:prstGeom>
          <a:noFill/>
        </p:spPr>
        <p:txBody>
          <a:bodyPr wrap="square">
            <a:spAutoFit/>
          </a:bodyPr>
          <a:lstStyle/>
          <a:p>
            <a:pPr>
              <a:defRPr sz="1300">
                <a:solidFill>
                  <a:srgbClr val="94A3B8"/>
                </a:solidFill>
              </a:defRPr>
            </a:pPr>
            <a:r>
              <a:t>A zero-trust cybersecurity middleware operating between live voice communication channels and sensitive enterprise/financial actions. Shifting voice security from post-mortem audio forensics to sub-second, pre-action preventative intervention.</a:t>
            </a:r>
          </a:p>
        </p:txBody>
      </p:sp>
      <p:sp>
        <p:nvSpPr>
          <p:cNvPr id="7" name="Rounded Rectangle 6"/>
          <p:cNvSpPr/>
          <p:nvPr/>
        </p:nvSpPr>
        <p:spPr>
          <a:xfrm>
            <a:off x="731520" y="4754880"/>
            <a:ext cx="3383280" cy="12801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4937760"/>
            <a:ext cx="2926080" cy="365760"/>
          </a:xfrm>
          <a:prstGeom prst="rect">
            <a:avLst/>
          </a:prstGeom>
          <a:noFill/>
        </p:spPr>
        <p:txBody>
          <a:bodyPr wrap="square" lIns="0" tIns="0" rIns="0" bIns="0">
            <a:spAutoFit/>
          </a:bodyPr>
          <a:lstStyle/>
          <a:p>
            <a:pPr>
              <a:defRPr sz="1300" b="1">
                <a:solidFill>
                  <a:srgbClr val="0EA5E9"/>
                </a:solidFill>
              </a:defRPr>
            </a:pPr>
            <a:r>
              <a:t>PROBLEM DOMAIN</a:t>
            </a:r>
          </a:p>
        </p:txBody>
      </p:sp>
      <p:sp>
        <p:nvSpPr>
          <p:cNvPr id="9" name="TextBox 8"/>
          <p:cNvSpPr txBox="1"/>
          <p:nvPr/>
        </p:nvSpPr>
        <p:spPr>
          <a:xfrm>
            <a:off x="960120" y="5166360"/>
            <a:ext cx="2926080" cy="777240"/>
          </a:xfrm>
          <a:prstGeom prst="rect">
            <a:avLst/>
          </a:prstGeom>
          <a:noFill/>
        </p:spPr>
        <p:txBody>
          <a:bodyPr wrap="square">
            <a:spAutoFit/>
          </a:bodyPr>
          <a:lstStyle/>
          <a:p>
            <a:pPr>
              <a:defRPr sz="1000">
                <a:solidFill>
                  <a:srgbClr val="94A3B8"/>
                </a:solidFill>
              </a:defRPr>
            </a:pPr>
            <a:r>
              <a:t>Generative Voice Cloning, Deepfake Impersonation, Social Engineering &amp; Unauthorized Voice Authorization.</a:t>
            </a:r>
          </a:p>
        </p:txBody>
      </p:sp>
      <p:sp>
        <p:nvSpPr>
          <p:cNvPr id="10" name="Rounded Rectangle 9"/>
          <p:cNvSpPr/>
          <p:nvPr/>
        </p:nvSpPr>
        <p:spPr>
          <a:xfrm>
            <a:off x="4389120" y="4754880"/>
            <a:ext cx="3383280" cy="12801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4937760"/>
            <a:ext cx="2926080" cy="365760"/>
          </a:xfrm>
          <a:prstGeom prst="rect">
            <a:avLst/>
          </a:prstGeom>
          <a:noFill/>
        </p:spPr>
        <p:txBody>
          <a:bodyPr wrap="square" lIns="0" tIns="0" rIns="0" bIns="0">
            <a:spAutoFit/>
          </a:bodyPr>
          <a:lstStyle/>
          <a:p>
            <a:pPr>
              <a:defRPr sz="1300" b="1">
                <a:solidFill>
                  <a:srgbClr val="14B8A6"/>
                </a:solidFill>
              </a:defRPr>
            </a:pPr>
            <a:r>
              <a:t>CORE INNOVATION</a:t>
            </a:r>
          </a:p>
        </p:txBody>
      </p:sp>
      <p:sp>
        <p:nvSpPr>
          <p:cNvPr id="12" name="TextBox 11"/>
          <p:cNvSpPr txBox="1"/>
          <p:nvPr/>
        </p:nvSpPr>
        <p:spPr>
          <a:xfrm>
            <a:off x="4617720" y="5166360"/>
            <a:ext cx="2926080" cy="777240"/>
          </a:xfrm>
          <a:prstGeom prst="rect">
            <a:avLst/>
          </a:prstGeom>
          <a:noFill/>
        </p:spPr>
        <p:txBody>
          <a:bodyPr wrap="square">
            <a:spAutoFit/>
          </a:bodyPr>
          <a:lstStyle/>
          <a:p>
            <a:pPr>
              <a:defRPr sz="1000">
                <a:solidFill>
                  <a:srgbClr val="94A3B8"/>
                </a:solidFill>
              </a:defRPr>
            </a:pPr>
            <a:r>
              <a:t>Multi-Signal Risk Fusion (0-100) combining Synthetic Speech Artifacts, Acoustic Biometrics, and Action-Sensitivity Policy Gates.</a:t>
            </a:r>
          </a:p>
        </p:txBody>
      </p:sp>
      <p:sp>
        <p:nvSpPr>
          <p:cNvPr id="13" name="Rounded Rectangle 12"/>
          <p:cNvSpPr/>
          <p:nvPr/>
        </p:nvSpPr>
        <p:spPr>
          <a:xfrm>
            <a:off x="8046720" y="4754880"/>
            <a:ext cx="3383280" cy="12801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4937760"/>
            <a:ext cx="2926080" cy="365760"/>
          </a:xfrm>
          <a:prstGeom prst="rect">
            <a:avLst/>
          </a:prstGeom>
          <a:noFill/>
        </p:spPr>
        <p:txBody>
          <a:bodyPr wrap="square" lIns="0" tIns="0" rIns="0" bIns="0">
            <a:spAutoFit/>
          </a:bodyPr>
          <a:lstStyle/>
          <a:p>
            <a:pPr>
              <a:defRPr sz="1300" b="1">
                <a:solidFill>
                  <a:srgbClr val="F59E0B"/>
                </a:solidFill>
              </a:defRPr>
            </a:pPr>
            <a:r>
              <a:t>INTEGRITY &amp; AUDIT</a:t>
            </a:r>
          </a:p>
        </p:txBody>
      </p:sp>
      <p:sp>
        <p:nvSpPr>
          <p:cNvPr id="15" name="TextBox 14"/>
          <p:cNvSpPr txBox="1"/>
          <p:nvPr/>
        </p:nvSpPr>
        <p:spPr>
          <a:xfrm>
            <a:off x="8275320" y="5166360"/>
            <a:ext cx="2926080" cy="777240"/>
          </a:xfrm>
          <a:prstGeom prst="rect">
            <a:avLst/>
          </a:prstGeom>
          <a:noFill/>
        </p:spPr>
        <p:txBody>
          <a:bodyPr wrap="square">
            <a:spAutoFit/>
          </a:bodyPr>
          <a:lstStyle/>
          <a:p>
            <a:pPr>
              <a:defRPr sz="1000">
                <a:solidFill>
                  <a:srgbClr val="94A3B8"/>
                </a:solidFill>
              </a:defRPr>
            </a:pPr>
            <a:r>
              <a:t>Tamper-evident SHA-256 state chain ledger providing forensic non-repudiation without external blockchain latency overhead.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THREAT LANDSCAPE &amp; PROBLEM DEFINITION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The Collapse of Acoustic Trust in Live Communications</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Generative AI has eliminated the barrier to high-fidelity real-time voice impersonation.</a:t>
            </a:r>
          </a:p>
        </p:txBody>
      </p:sp>
      <p:sp>
        <p:nvSpPr>
          <p:cNvPr id="6" name="Rounded Rectangle 5"/>
          <p:cNvSpPr/>
          <p:nvPr/>
        </p:nvSpPr>
        <p:spPr>
          <a:xfrm>
            <a:off x="7315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926080" cy="365760"/>
          </a:xfrm>
          <a:prstGeom prst="rect">
            <a:avLst/>
          </a:prstGeom>
          <a:noFill/>
        </p:spPr>
        <p:txBody>
          <a:bodyPr wrap="square" lIns="0" tIns="0" rIns="0" bIns="0">
            <a:spAutoFit/>
          </a:bodyPr>
          <a:lstStyle/>
          <a:p>
            <a:pPr>
              <a:defRPr sz="1300" b="1">
                <a:solidFill>
                  <a:srgbClr val="EF4444"/>
                </a:solidFill>
              </a:defRPr>
            </a:pPr>
            <a:r>
              <a:t>1. Zero-Shot Voice Cloning</a:t>
            </a:r>
          </a:p>
        </p:txBody>
      </p:sp>
      <p:sp>
        <p:nvSpPr>
          <p:cNvPr id="8" name="TextBox 7"/>
          <p:cNvSpPr txBox="1"/>
          <p:nvPr/>
        </p:nvSpPr>
        <p:spPr>
          <a:xfrm>
            <a:off x="960120" y="2240280"/>
            <a:ext cx="2926080" cy="3749039"/>
          </a:xfrm>
          <a:prstGeom prst="rect">
            <a:avLst/>
          </a:prstGeom>
          <a:noFill/>
        </p:spPr>
        <p:txBody>
          <a:bodyPr wrap="square">
            <a:spAutoFit/>
          </a:bodyPr>
          <a:lstStyle/>
          <a:p>
            <a:pPr>
              <a:defRPr b="1" sz="1100">
                <a:solidFill>
                  <a:srgbClr val="F8FAFC"/>
                </a:solidFill>
              </a:defRPr>
            </a:pPr>
            <a:r>
              <a:t>Diffusion &amp; Neural Vocoders</a:t>
            </a:r>
          </a:p>
          <a:p>
            <a:pPr>
              <a:spcAft>
                <a:spcPts val="1200"/>
              </a:spcAft>
              <a:defRPr sz="950">
                <a:solidFill>
                  <a:srgbClr val="94A3B8"/>
                </a:solidFill>
              </a:defRPr>
            </a:pPr>
            <a:r>
              <a:t>Attacks require only 3 seconds of public audio (from podcasts, webinars, social media) to generate arbitrary speech.</a:t>
            </a:r>
          </a:p>
          <a:p>
            <a:pPr>
              <a:defRPr b="1" sz="1100">
                <a:solidFill>
                  <a:srgbClr val="F8FAFC"/>
                </a:solidFill>
              </a:defRPr>
            </a:pPr>
            <a:r>
              <a:t>Real-Time Conversational Latency</a:t>
            </a:r>
          </a:p>
          <a:p>
            <a:pPr>
              <a:spcAft>
                <a:spcPts val="1200"/>
              </a:spcAft>
              <a:defRPr sz="950">
                <a:solidFill>
                  <a:srgbClr val="94A3B8"/>
                </a:solidFill>
              </a:defRPr>
            </a:pPr>
            <a:r>
              <a:t>Latencies below 300ms now allow attackers to conduct interactive two-way telephone conversations indistinguishable from genuine executives.</a:t>
            </a:r>
          </a:p>
          <a:p>
            <a:pPr>
              <a:defRPr b="1" sz="1100">
                <a:solidFill>
                  <a:srgbClr val="F8FAFC"/>
                </a:solidFill>
              </a:defRPr>
            </a:pPr>
            <a:r>
              <a:t>Cross-Language &amp; Emotion Transfer</a:t>
            </a:r>
          </a:p>
          <a:p>
            <a:pPr>
              <a:defRPr sz="950">
                <a:solidFill>
                  <a:srgbClr val="94A3B8"/>
                </a:solidFill>
              </a:defRPr>
            </a:pPr>
            <a:r>
              <a:t>Advanced models capture emotional stress, pitch modulation, and background ambient resonance to simulate authentic urgent emergencies.</a:t>
            </a:r>
          </a:p>
        </p:txBody>
      </p:sp>
      <p:sp>
        <p:nvSpPr>
          <p:cNvPr id="9" name="Rounded Rectangle 8"/>
          <p:cNvSpPr/>
          <p:nvPr/>
        </p:nvSpPr>
        <p:spPr>
          <a:xfrm>
            <a:off x="43891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920240"/>
            <a:ext cx="2926080" cy="365760"/>
          </a:xfrm>
          <a:prstGeom prst="rect">
            <a:avLst/>
          </a:prstGeom>
          <a:noFill/>
        </p:spPr>
        <p:txBody>
          <a:bodyPr wrap="square" lIns="0" tIns="0" rIns="0" bIns="0">
            <a:spAutoFit/>
          </a:bodyPr>
          <a:lstStyle/>
          <a:p>
            <a:pPr>
              <a:defRPr sz="1300" b="1">
                <a:solidFill>
                  <a:srgbClr val="F59E0B"/>
                </a:solidFill>
              </a:defRPr>
            </a:pPr>
            <a:r>
              <a:t>2. High-Impact Attack Vectors</a:t>
            </a:r>
          </a:p>
        </p:txBody>
      </p:sp>
      <p:sp>
        <p:nvSpPr>
          <p:cNvPr id="11" name="TextBox 10"/>
          <p:cNvSpPr txBox="1"/>
          <p:nvPr/>
        </p:nvSpPr>
        <p:spPr>
          <a:xfrm>
            <a:off x="4617720" y="2240280"/>
            <a:ext cx="2926080" cy="3749039"/>
          </a:xfrm>
          <a:prstGeom prst="rect">
            <a:avLst/>
          </a:prstGeom>
          <a:noFill/>
        </p:spPr>
        <p:txBody>
          <a:bodyPr wrap="square">
            <a:spAutoFit/>
          </a:bodyPr>
          <a:lstStyle/>
          <a:p>
            <a:pPr>
              <a:defRPr b="1" sz="1100">
                <a:solidFill>
                  <a:srgbClr val="F8FAFC"/>
                </a:solidFill>
              </a:defRPr>
            </a:pPr>
            <a:r>
              <a:t>Executive &amp; CEO Fraud</a:t>
            </a:r>
          </a:p>
          <a:p>
            <a:pPr>
              <a:spcAft>
                <a:spcPts val="1000"/>
              </a:spcAft>
              <a:defRPr sz="950">
                <a:solidFill>
                  <a:srgbClr val="94A3B8"/>
                </a:solidFill>
              </a:defRPr>
            </a:pPr>
            <a:r>
              <a:t>Impersonating C-suite executives ordering urgent off-cycle treasury wire transfers or confidential M&amp;A data disclosures.</a:t>
            </a:r>
          </a:p>
          <a:p>
            <a:pPr>
              <a:defRPr b="1" sz="1100">
                <a:solidFill>
                  <a:srgbClr val="F8FAFC"/>
                </a:solidFill>
              </a:defRPr>
            </a:pPr>
            <a:r>
              <a:t>IT Helpdesk &amp; IAM Exploitation</a:t>
            </a:r>
          </a:p>
          <a:p>
            <a:pPr>
              <a:spcAft>
                <a:spcPts val="1000"/>
              </a:spcAft>
              <a:defRPr sz="950">
                <a:solidFill>
                  <a:srgbClr val="94A3B8"/>
                </a:solidFill>
              </a:defRPr>
            </a:pPr>
            <a:r>
              <a:t>Spoofing remote employees to trick internal service desks into resetting MFA tokens, yielding initial corporate network access.</a:t>
            </a:r>
          </a:p>
          <a:p>
            <a:pPr>
              <a:defRPr b="1" sz="1100">
                <a:solidFill>
                  <a:srgbClr val="F8FAFC"/>
                </a:solidFill>
              </a:defRPr>
            </a:pPr>
            <a:r>
              <a:t>Critical Infrastructure &amp; Gov Dispatch</a:t>
            </a:r>
          </a:p>
          <a:p>
            <a:pPr>
              <a:spcAft>
                <a:spcPts val="1000"/>
              </a:spcAft>
              <a:defRPr sz="950">
                <a:solidFill>
                  <a:srgbClr val="94A3B8"/>
                </a:solidFill>
              </a:defRPr>
            </a:pPr>
            <a:r>
              <a:t>Fabricating voice-based emergency orders to field operators, municipal authorities, or tactical dispatch centers.</a:t>
            </a:r>
          </a:p>
          <a:p>
            <a:pPr>
              <a:defRPr b="1" sz="1100">
                <a:solidFill>
                  <a:srgbClr val="F8FAFC"/>
                </a:solidFill>
              </a:defRPr>
            </a:pPr>
            <a:r>
              <a:t>Civic &amp; Financial Extortion</a:t>
            </a:r>
          </a:p>
          <a:p>
            <a:pPr>
              <a:defRPr sz="950">
                <a:solidFill>
                  <a:srgbClr val="94A3B8"/>
                </a:solidFill>
              </a:defRPr>
            </a:pPr>
            <a:r>
              <a:t>Targeting citizens with simulated family hostage scenarios or fake law enforcement legal summons requiring immediate UPI transfers.</a:t>
            </a:r>
          </a:p>
        </p:txBody>
      </p:sp>
      <p:sp>
        <p:nvSpPr>
          <p:cNvPr id="12" name="Rounded Rectangle 11"/>
          <p:cNvSpPr/>
          <p:nvPr/>
        </p:nvSpPr>
        <p:spPr>
          <a:xfrm>
            <a:off x="80467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920240"/>
            <a:ext cx="2926080" cy="365760"/>
          </a:xfrm>
          <a:prstGeom prst="rect">
            <a:avLst/>
          </a:prstGeom>
          <a:noFill/>
        </p:spPr>
        <p:txBody>
          <a:bodyPr wrap="square" lIns="0" tIns="0" rIns="0" bIns="0">
            <a:spAutoFit/>
          </a:bodyPr>
          <a:lstStyle/>
          <a:p>
            <a:pPr>
              <a:defRPr sz="1300" b="1">
                <a:solidFill>
                  <a:srgbClr val="0EA5E9"/>
                </a:solidFill>
              </a:defRPr>
            </a:pPr>
            <a:r>
              <a:t>3. The Operational Blindspot</a:t>
            </a:r>
          </a:p>
        </p:txBody>
      </p:sp>
      <p:sp>
        <p:nvSpPr>
          <p:cNvPr id="14" name="TextBox 13"/>
          <p:cNvSpPr txBox="1"/>
          <p:nvPr/>
        </p:nvSpPr>
        <p:spPr>
          <a:xfrm>
            <a:off x="8275320" y="2240280"/>
            <a:ext cx="2926080" cy="3749039"/>
          </a:xfrm>
          <a:prstGeom prst="rect">
            <a:avLst/>
          </a:prstGeom>
          <a:noFill/>
        </p:spPr>
        <p:txBody>
          <a:bodyPr wrap="square">
            <a:spAutoFit/>
          </a:bodyPr>
          <a:lstStyle/>
          <a:p>
            <a:pPr>
              <a:defRPr b="1" sz="1100">
                <a:solidFill>
                  <a:srgbClr val="F8FAFC"/>
                </a:solidFill>
              </a:defRPr>
            </a:pPr>
            <a:r>
              <a:t>Acoustic Bias</a:t>
            </a:r>
          </a:p>
          <a:p>
            <a:pPr>
              <a:spcAft>
                <a:spcPts val="1400"/>
              </a:spcAft>
              <a:defRPr sz="950">
                <a:solidFill>
                  <a:srgbClr val="94A3B8"/>
                </a:solidFill>
              </a:defRPr>
            </a:pPr>
            <a:r>
              <a:t>Human auditory cognition is hardwired to trust familiar voices. Under cognitive load or perceived urgency, human skepticism drops by over 80%.</a:t>
            </a:r>
          </a:p>
          <a:p>
            <a:pPr>
              <a:defRPr b="1" sz="1100">
                <a:solidFill>
                  <a:srgbClr val="F8FAFC"/>
                </a:solidFill>
              </a:defRPr>
            </a:pPr>
            <a:r>
              <a:t>Unprotected Communication Channel</a:t>
            </a:r>
          </a:p>
          <a:p>
            <a:pPr>
              <a:spcAft>
                <a:spcPts val="1400"/>
              </a:spcAft>
              <a:defRPr sz="950">
                <a:solidFill>
                  <a:srgbClr val="94A3B8"/>
                </a:solidFill>
              </a:defRPr>
            </a:pPr>
            <a:r>
              <a:t>Organizations secure network packets (TLS/IPsec) and identities (IAM/MFA), but treat voice telephony as an authenticated safe zone.</a:t>
            </a:r>
          </a:p>
          <a:p>
            <a:pPr>
              <a:defRPr b="1" sz="1100">
                <a:solidFill>
                  <a:srgbClr val="F8FAFC"/>
                </a:solidFill>
              </a:defRPr>
            </a:pPr>
            <a:r>
              <a:t>Asymmetric Cost Advantage</a:t>
            </a:r>
          </a:p>
          <a:p>
            <a:pPr>
              <a:defRPr sz="950">
                <a:solidFill>
                  <a:srgbClr val="94A3B8"/>
                </a:solidFill>
              </a:defRPr>
            </a:pPr>
            <a:r>
              <a:t>Creating an AI voice clone costs pennies using open-source toolkits, while a single successful fraud incident yields millions in losses.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COMPETITIVE &amp; TECHNICAL GAP ANALYSIS</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Why Conventional Defenses Fail Against Voice Impersonation</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Current tools are either spoofable, too slow, or detached from operational action gates.</a:t>
            </a:r>
          </a:p>
        </p:txBody>
      </p:sp>
      <p:sp>
        <p:nvSpPr>
          <p:cNvPr id="6" name="Rounded Rectangle 5"/>
          <p:cNvSpPr/>
          <p:nvPr/>
        </p:nvSpPr>
        <p:spPr>
          <a:xfrm>
            <a:off x="7315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057400" cy="365760"/>
          </a:xfrm>
          <a:prstGeom prst="rect">
            <a:avLst/>
          </a:prstGeom>
          <a:noFill/>
        </p:spPr>
        <p:txBody>
          <a:bodyPr wrap="square" lIns="0" tIns="0" rIns="0" bIns="0">
            <a:spAutoFit/>
          </a:bodyPr>
          <a:lstStyle/>
          <a:p>
            <a:pPr>
              <a:defRPr sz="1300" b="1">
                <a:solidFill>
                  <a:srgbClr val="EF4444"/>
                </a:solidFill>
              </a:defRPr>
            </a:pPr>
            <a:r>
              <a:t>Telecom Caller ID (CLI / STIR-SHAKEN)</a:t>
            </a:r>
          </a:p>
        </p:txBody>
      </p:sp>
      <p:sp>
        <p:nvSpPr>
          <p:cNvPr id="8" name="TextBox 7"/>
          <p:cNvSpPr txBox="1"/>
          <p:nvPr/>
        </p:nvSpPr>
        <p:spPr>
          <a:xfrm>
            <a:off x="896112" y="2240280"/>
            <a:ext cx="2185416" cy="3749039"/>
          </a:xfrm>
          <a:prstGeom prst="rect">
            <a:avLst/>
          </a:prstGeom>
          <a:noFill/>
        </p:spPr>
        <p:txBody>
          <a:bodyPr wrap="square">
            <a:spAutoFit/>
          </a:bodyPr>
          <a:lstStyle/>
          <a:p>
            <a:pPr>
              <a:defRPr b="1" sz="950">
                <a:solidFill>
                  <a:srgbClr val="EF4444"/>
                </a:solidFill>
              </a:defRPr>
            </a:pPr>
            <a:r>
              <a:t>MECHANISM</a:t>
            </a:r>
          </a:p>
          <a:p>
            <a:pPr>
              <a:spcAft>
                <a:spcPts val="800"/>
              </a:spcAft>
              <a:defRPr sz="900">
                <a:solidFill>
                  <a:srgbClr val="94A3B8"/>
                </a:solidFill>
              </a:defRPr>
            </a:pPr>
            <a:r>
              <a:t>Cryptographic signing of telephone numbers via SIP headers.</a:t>
            </a:r>
          </a:p>
          <a:p>
            <a:pPr>
              <a:defRPr b="1" sz="950">
                <a:solidFill>
                  <a:srgbClr val="EF4444"/>
                </a:solidFill>
              </a:defRPr>
            </a:pPr>
            <a:r>
              <a:t>CRITICAL VULNERABILITY</a:t>
            </a:r>
          </a:p>
          <a:p>
            <a:pPr>
              <a:spcAft>
                <a:spcPts val="800"/>
              </a:spcAft>
              <a:defRPr sz="900">
                <a:solidFill>
                  <a:srgbClr val="94A3B8"/>
                </a:solidFill>
              </a:defRPr>
            </a:pPr>
            <a:r>
              <a:t>Verifies originating carrier number ownership, NOT who is speaking. Easily bypassed via compromised PBX or VoIP trunk injection.</a:t>
            </a:r>
          </a:p>
          <a:p>
            <a:pPr>
              <a:defRPr b="1" sz="950">
                <a:solidFill>
                  <a:srgbClr val="EF4444"/>
                </a:solidFill>
              </a:defRPr>
            </a:pPr>
            <a:r>
              <a:t>MISSING DIMENSION</a:t>
            </a:r>
          </a:p>
          <a:p>
            <a:pPr>
              <a:defRPr sz="900">
                <a:solidFill>
                  <a:srgbClr val="94A3B8"/>
                </a:solidFill>
              </a:defRPr>
            </a:pPr>
            <a:r>
              <a:t>Zero acoustic inspection. Spoofed or hijacked numbers still sound genuine.</a:t>
            </a:r>
          </a:p>
        </p:txBody>
      </p:sp>
      <p:sp>
        <p:nvSpPr>
          <p:cNvPr id="9" name="Rounded Rectangle 8"/>
          <p:cNvSpPr/>
          <p:nvPr/>
        </p:nvSpPr>
        <p:spPr>
          <a:xfrm>
            <a:off x="34747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1920240"/>
            <a:ext cx="2057400" cy="365760"/>
          </a:xfrm>
          <a:prstGeom prst="rect">
            <a:avLst/>
          </a:prstGeom>
          <a:noFill/>
        </p:spPr>
        <p:txBody>
          <a:bodyPr wrap="square" lIns="0" tIns="0" rIns="0" bIns="0">
            <a:spAutoFit/>
          </a:bodyPr>
          <a:lstStyle/>
          <a:p>
            <a:pPr>
              <a:defRPr sz="1300" b="1">
                <a:solidFill>
                  <a:srgbClr val="F59E0B"/>
                </a:solidFill>
              </a:defRPr>
            </a:pPr>
            <a:r>
              <a:t>Static Voice Biometrics (IVR Banking)</a:t>
            </a:r>
          </a:p>
        </p:txBody>
      </p:sp>
      <p:sp>
        <p:nvSpPr>
          <p:cNvPr id="11" name="TextBox 10"/>
          <p:cNvSpPr txBox="1"/>
          <p:nvPr/>
        </p:nvSpPr>
        <p:spPr>
          <a:xfrm>
            <a:off x="3639312" y="2240280"/>
            <a:ext cx="2185416" cy="3749039"/>
          </a:xfrm>
          <a:prstGeom prst="rect">
            <a:avLst/>
          </a:prstGeom>
          <a:noFill/>
        </p:spPr>
        <p:txBody>
          <a:bodyPr wrap="square">
            <a:spAutoFit/>
          </a:bodyPr>
          <a:lstStyle/>
          <a:p>
            <a:pPr>
              <a:defRPr b="1" sz="950">
                <a:solidFill>
                  <a:srgbClr val="F59E0B"/>
                </a:solidFill>
              </a:defRPr>
            </a:pPr>
            <a:r>
              <a:t>MECHANISM</a:t>
            </a:r>
          </a:p>
          <a:p>
            <a:pPr>
              <a:spcAft>
                <a:spcPts val="800"/>
              </a:spcAft>
              <a:defRPr sz="900">
                <a:solidFill>
                  <a:srgbClr val="94A3B8"/>
                </a:solidFill>
              </a:defRPr>
            </a:pPr>
            <a:r>
              <a:t>Matches speaker audio to an enrolled voiceprint (cosine similarity).</a:t>
            </a:r>
          </a:p>
          <a:p>
            <a:pPr>
              <a:defRPr b="1" sz="950">
                <a:solidFill>
                  <a:srgbClr val="F59E0B"/>
                </a:solidFill>
              </a:defRPr>
            </a:pPr>
            <a:r>
              <a:t>CRITICAL VULNERABILITY</a:t>
            </a:r>
          </a:p>
          <a:p>
            <a:pPr>
              <a:spcAft>
                <a:spcPts val="800"/>
              </a:spcAft>
              <a:defRPr sz="900">
                <a:solidFill>
                  <a:srgbClr val="94A3B8"/>
                </a:solidFill>
              </a:defRPr>
            </a:pPr>
            <a:r>
              <a:t>High-fidelity generative clones intentionally mimic the target's acoustic profile, tricking 1:1 biometric matchers.</a:t>
            </a:r>
          </a:p>
          <a:p>
            <a:pPr>
              <a:defRPr b="1" sz="950">
                <a:solidFill>
                  <a:srgbClr val="F59E0B"/>
                </a:solidFill>
              </a:defRPr>
            </a:pPr>
            <a:r>
              <a:t>MISSING DIMENSION</a:t>
            </a:r>
          </a:p>
          <a:p>
            <a:pPr>
              <a:defRPr sz="900">
                <a:solidFill>
                  <a:srgbClr val="94A3B8"/>
                </a:solidFill>
              </a:defRPr>
            </a:pPr>
            <a:r>
              <a:t>Fails to inspect synthetic vocoder phase artifacts; susceptible to acoustic replay.</a:t>
            </a:r>
          </a:p>
        </p:txBody>
      </p:sp>
      <p:sp>
        <p:nvSpPr>
          <p:cNvPr id="12" name="Rounded Rectangle 11"/>
          <p:cNvSpPr/>
          <p:nvPr/>
        </p:nvSpPr>
        <p:spPr>
          <a:xfrm>
            <a:off x="62179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920240"/>
            <a:ext cx="2057400" cy="365760"/>
          </a:xfrm>
          <a:prstGeom prst="rect">
            <a:avLst/>
          </a:prstGeom>
          <a:noFill/>
        </p:spPr>
        <p:txBody>
          <a:bodyPr wrap="square" lIns="0" tIns="0" rIns="0" bIns="0">
            <a:spAutoFit/>
          </a:bodyPr>
          <a:lstStyle/>
          <a:p>
            <a:pPr>
              <a:defRPr sz="1300" b="1">
                <a:solidFill>
                  <a:srgbClr val="0EA5E9"/>
                </a:solidFill>
              </a:defRPr>
            </a:pPr>
            <a:r>
              <a:t>Post-Mortem Deepfake Classifiers</a:t>
            </a:r>
          </a:p>
        </p:txBody>
      </p:sp>
      <p:sp>
        <p:nvSpPr>
          <p:cNvPr id="14" name="TextBox 13"/>
          <p:cNvSpPr txBox="1"/>
          <p:nvPr/>
        </p:nvSpPr>
        <p:spPr>
          <a:xfrm>
            <a:off x="6382512" y="2240280"/>
            <a:ext cx="2185416" cy="3749039"/>
          </a:xfrm>
          <a:prstGeom prst="rect">
            <a:avLst/>
          </a:prstGeom>
          <a:noFill/>
        </p:spPr>
        <p:txBody>
          <a:bodyPr wrap="square">
            <a:spAutoFit/>
          </a:bodyPr>
          <a:lstStyle/>
          <a:p>
            <a:pPr>
              <a:defRPr b="1" sz="950">
                <a:solidFill>
                  <a:srgbClr val="0EA5E9"/>
                </a:solidFill>
              </a:defRPr>
            </a:pPr>
            <a:r>
              <a:t>MECHANISM</a:t>
            </a:r>
          </a:p>
          <a:p>
            <a:pPr>
              <a:spcAft>
                <a:spcPts val="800"/>
              </a:spcAft>
              <a:defRPr sz="900">
                <a:solidFill>
                  <a:srgbClr val="94A3B8"/>
                </a:solidFill>
              </a:defRPr>
            </a:pPr>
            <a:r>
              <a:t>Offline file analysis on uploaded audio (.wav/.mp3) to produce fake/real probability.</a:t>
            </a:r>
          </a:p>
          <a:p>
            <a:pPr>
              <a:defRPr b="1" sz="950">
                <a:solidFill>
                  <a:srgbClr val="0EA5E9"/>
                </a:solidFill>
              </a:defRPr>
            </a:pPr>
            <a:r>
              <a:t>CRITICAL VULNERABILITY</a:t>
            </a:r>
          </a:p>
          <a:p>
            <a:pPr>
              <a:spcAft>
                <a:spcPts val="800"/>
              </a:spcAft>
              <a:defRPr sz="900">
                <a:solidFill>
                  <a:srgbClr val="94A3B8"/>
                </a:solidFill>
              </a:defRPr>
            </a:pPr>
            <a:r>
              <a:t>Batch processing takes 5-30 seconds. By the time a report is rendered, the fraudulent transaction has settled.</a:t>
            </a:r>
          </a:p>
          <a:p>
            <a:pPr>
              <a:defRPr b="1" sz="950">
                <a:solidFill>
                  <a:srgbClr val="0EA5E9"/>
                </a:solidFill>
              </a:defRPr>
            </a:pPr>
            <a:r>
              <a:t>MISSING DIMENSION</a:t>
            </a:r>
          </a:p>
          <a:p>
            <a:pPr>
              <a:defRPr sz="900">
                <a:solidFill>
                  <a:srgbClr val="94A3B8"/>
                </a:solidFill>
              </a:defRPr>
            </a:pPr>
            <a:r>
              <a:t>Passive reporting with zero integration into enterprise policy or transaction gates.</a:t>
            </a:r>
          </a:p>
        </p:txBody>
      </p:sp>
      <p:sp>
        <p:nvSpPr>
          <p:cNvPr id="15" name="Rounded Rectangle 14"/>
          <p:cNvSpPr/>
          <p:nvPr/>
        </p:nvSpPr>
        <p:spPr>
          <a:xfrm>
            <a:off x="89611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1920240"/>
            <a:ext cx="2057400" cy="365760"/>
          </a:xfrm>
          <a:prstGeom prst="rect">
            <a:avLst/>
          </a:prstGeom>
          <a:noFill/>
        </p:spPr>
        <p:txBody>
          <a:bodyPr wrap="square" lIns="0" tIns="0" rIns="0" bIns="0">
            <a:spAutoFit/>
          </a:bodyPr>
          <a:lstStyle/>
          <a:p>
            <a:pPr>
              <a:defRPr sz="1300" b="1">
                <a:solidFill>
                  <a:srgbClr val="10B981"/>
                </a:solidFill>
              </a:defRPr>
            </a:pPr>
            <a:r>
              <a:t>VOICEGUARD AI (Our Solution)</a:t>
            </a:r>
          </a:p>
        </p:txBody>
      </p:sp>
      <p:sp>
        <p:nvSpPr>
          <p:cNvPr id="17" name="TextBox 16"/>
          <p:cNvSpPr txBox="1"/>
          <p:nvPr/>
        </p:nvSpPr>
        <p:spPr>
          <a:xfrm>
            <a:off x="9125712" y="2240280"/>
            <a:ext cx="2185416" cy="3749039"/>
          </a:xfrm>
          <a:prstGeom prst="rect">
            <a:avLst/>
          </a:prstGeom>
          <a:noFill/>
        </p:spPr>
        <p:txBody>
          <a:bodyPr wrap="square">
            <a:spAutoFit/>
          </a:bodyPr>
          <a:lstStyle/>
          <a:p>
            <a:pPr>
              <a:defRPr b="1" sz="950">
                <a:solidFill>
                  <a:srgbClr val="10B981"/>
                </a:solidFill>
              </a:defRPr>
            </a:pPr>
            <a:r>
              <a:t>MECHANISM</a:t>
            </a:r>
          </a:p>
          <a:p>
            <a:pPr>
              <a:spcAft>
                <a:spcPts val="800"/>
              </a:spcAft>
              <a:defRPr sz="900">
                <a:solidFill>
                  <a:srgbClr val="94A3B8"/>
                </a:solidFill>
              </a:defRPr>
            </a:pPr>
            <a:r>
              <a:t>Sub-second dual-AI stream inference fused with dynamic context and action-sensitivity.</a:t>
            </a:r>
          </a:p>
          <a:p>
            <a:pPr>
              <a:defRPr b="1" sz="950">
                <a:solidFill>
                  <a:srgbClr val="10B981"/>
                </a:solidFill>
              </a:defRPr>
            </a:pPr>
            <a:r>
              <a:t>DEFENSE CAPABILITY</a:t>
            </a:r>
          </a:p>
          <a:p>
            <a:pPr>
              <a:spcAft>
                <a:spcPts val="800"/>
              </a:spcAft>
              <a:defRPr sz="900">
                <a:solidFill>
                  <a:srgbClr val="94A3B8"/>
                </a:solidFill>
              </a:defRPr>
            </a:pPr>
            <a:r>
              <a:t>Inspects synthetic artifacts AND speaker biometrics simultaneously, calculating a 0-100 Threat Score.</a:t>
            </a:r>
          </a:p>
          <a:p>
            <a:pPr>
              <a:defRPr b="1" sz="950">
                <a:solidFill>
                  <a:srgbClr val="10B981"/>
                </a:solidFill>
              </a:defRPr>
            </a:pPr>
            <a:r>
              <a:t>DEFENSIVE GATE</a:t>
            </a:r>
          </a:p>
          <a:p>
            <a:pPr>
              <a:defRPr sz="900">
                <a:solidFill>
                  <a:srgbClr val="94A3B8"/>
                </a:solidFill>
              </a:defRPr>
            </a:pPr>
            <a:r>
              <a:t>Directly binds to downstream API gateways to freeze unauthorized execution in real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STRATEGIC CONCEPT &amp; ARCHITECTURE PHILOSOPHY</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The VoiceGuard AI Defense Paradigm</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Transforming voice security from post-incident analysis to an active pre-transaction firewall.</a:t>
            </a:r>
          </a:p>
        </p:txBody>
      </p:sp>
      <p:sp>
        <p:nvSpPr>
          <p:cNvPr id="6" name="Rounded Rectangle 5"/>
          <p:cNvSpPr/>
          <p:nvPr/>
        </p:nvSpPr>
        <p:spPr>
          <a:xfrm>
            <a:off x="731520" y="1737360"/>
            <a:ext cx="2011680" cy="201168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1554480" cy="365760"/>
          </a:xfrm>
          <a:prstGeom prst="rect">
            <a:avLst/>
          </a:prstGeom>
          <a:noFill/>
        </p:spPr>
        <p:txBody>
          <a:bodyPr wrap="square" lIns="0" tIns="0" rIns="0" bIns="0">
            <a:spAutoFit/>
          </a:bodyPr>
          <a:lstStyle/>
          <a:p>
            <a:pPr>
              <a:defRPr sz="1300" b="1">
                <a:solidFill>
                  <a:srgbClr val="0EA5E9"/>
                </a:solidFill>
              </a:defRPr>
            </a:pPr>
            <a:r>
              <a:t>1. INGESTION</a:t>
            </a:r>
          </a:p>
        </p:txBody>
      </p:sp>
      <p:sp>
        <p:nvSpPr>
          <p:cNvPr id="8" name="TextBox 7"/>
          <p:cNvSpPr txBox="1"/>
          <p:nvPr/>
        </p:nvSpPr>
        <p:spPr>
          <a:xfrm>
            <a:off x="868680" y="2286000"/>
            <a:ext cx="1737360" cy="1280160"/>
          </a:xfrm>
          <a:prstGeom prst="rect">
            <a:avLst/>
          </a:prstGeom>
          <a:noFill/>
        </p:spPr>
        <p:txBody>
          <a:bodyPr wrap="square">
            <a:spAutoFit/>
          </a:bodyPr>
          <a:lstStyle/>
          <a:p>
            <a:pPr>
              <a:defRPr sz="1000">
                <a:solidFill>
                  <a:srgbClr val="94A3B8"/>
                </a:solidFill>
              </a:defRPr>
            </a:pPr>
            <a:r>
              <a:t>Live RTP / WebRTC / Telephony Audio Tap (16kHz PCM Stream)</a:t>
            </a:r>
          </a:p>
        </p:txBody>
      </p:sp>
      <p:sp>
        <p:nvSpPr>
          <p:cNvPr id="9" name="Rounded Rectangle 8"/>
          <p:cNvSpPr/>
          <p:nvPr/>
        </p:nvSpPr>
        <p:spPr>
          <a:xfrm>
            <a:off x="2926080" y="1737360"/>
            <a:ext cx="2011680" cy="201168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54680" y="1920240"/>
            <a:ext cx="1554480" cy="365760"/>
          </a:xfrm>
          <a:prstGeom prst="rect">
            <a:avLst/>
          </a:prstGeom>
          <a:noFill/>
        </p:spPr>
        <p:txBody>
          <a:bodyPr wrap="square" lIns="0" tIns="0" rIns="0" bIns="0">
            <a:spAutoFit/>
          </a:bodyPr>
          <a:lstStyle/>
          <a:p>
            <a:pPr>
              <a:defRPr sz="1300" b="1">
                <a:solidFill>
                  <a:srgbClr val="14B8A6"/>
                </a:solidFill>
              </a:defRPr>
            </a:pPr>
            <a:r>
              <a:t>2. DETECTION</a:t>
            </a:r>
          </a:p>
        </p:txBody>
      </p:sp>
      <p:sp>
        <p:nvSpPr>
          <p:cNvPr id="11" name="TextBox 10"/>
          <p:cNvSpPr txBox="1"/>
          <p:nvPr/>
        </p:nvSpPr>
        <p:spPr>
          <a:xfrm>
            <a:off x="3063240" y="2286000"/>
            <a:ext cx="1737360" cy="1280160"/>
          </a:xfrm>
          <a:prstGeom prst="rect">
            <a:avLst/>
          </a:prstGeom>
          <a:noFill/>
        </p:spPr>
        <p:txBody>
          <a:bodyPr wrap="square">
            <a:spAutoFit/>
          </a:bodyPr>
          <a:lstStyle/>
          <a:p>
            <a:pPr>
              <a:defRPr sz="1000">
                <a:solidFill>
                  <a:srgbClr val="94A3B8"/>
                </a:solidFill>
              </a:defRPr>
            </a:pPr>
            <a:r>
              <a:t>Dual-AI Model Ensemble: Anti-Spoof + Biometric Match</a:t>
            </a:r>
          </a:p>
        </p:txBody>
      </p:sp>
      <p:sp>
        <p:nvSpPr>
          <p:cNvPr id="12" name="Rounded Rectangle 11"/>
          <p:cNvSpPr/>
          <p:nvPr/>
        </p:nvSpPr>
        <p:spPr>
          <a:xfrm>
            <a:off x="5120640" y="1737360"/>
            <a:ext cx="2011680" cy="201168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49240" y="1920240"/>
            <a:ext cx="1554480" cy="365760"/>
          </a:xfrm>
          <a:prstGeom prst="rect">
            <a:avLst/>
          </a:prstGeom>
          <a:noFill/>
        </p:spPr>
        <p:txBody>
          <a:bodyPr wrap="square" lIns="0" tIns="0" rIns="0" bIns="0">
            <a:spAutoFit/>
          </a:bodyPr>
          <a:lstStyle/>
          <a:p>
            <a:pPr>
              <a:defRPr sz="1300" b="1">
                <a:solidFill>
                  <a:srgbClr val="F59E0B"/>
                </a:solidFill>
              </a:defRPr>
            </a:pPr>
            <a:r>
              <a:t>3. RISK FUSION</a:t>
            </a:r>
          </a:p>
        </p:txBody>
      </p:sp>
      <p:sp>
        <p:nvSpPr>
          <p:cNvPr id="14" name="TextBox 13"/>
          <p:cNvSpPr txBox="1"/>
          <p:nvPr/>
        </p:nvSpPr>
        <p:spPr>
          <a:xfrm>
            <a:off x="5257800" y="2286000"/>
            <a:ext cx="1737360" cy="1280160"/>
          </a:xfrm>
          <a:prstGeom prst="rect">
            <a:avLst/>
          </a:prstGeom>
          <a:noFill/>
        </p:spPr>
        <p:txBody>
          <a:bodyPr wrap="square">
            <a:spAutoFit/>
          </a:bodyPr>
          <a:lstStyle/>
          <a:p>
            <a:pPr>
              <a:defRPr sz="1000">
                <a:solidFill>
                  <a:srgbClr val="94A3B8"/>
                </a:solidFill>
              </a:defRPr>
            </a:pPr>
            <a:r>
              <a:t>Dynamic Multi-Signal Scoring: Impersonation Score (0-100)</a:t>
            </a:r>
          </a:p>
        </p:txBody>
      </p:sp>
      <p:sp>
        <p:nvSpPr>
          <p:cNvPr id="15" name="Rounded Rectangle 14"/>
          <p:cNvSpPr/>
          <p:nvPr/>
        </p:nvSpPr>
        <p:spPr>
          <a:xfrm>
            <a:off x="7315200" y="1737360"/>
            <a:ext cx="2011680" cy="201168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43800" y="1920240"/>
            <a:ext cx="1554480" cy="365760"/>
          </a:xfrm>
          <a:prstGeom prst="rect">
            <a:avLst/>
          </a:prstGeom>
          <a:noFill/>
        </p:spPr>
        <p:txBody>
          <a:bodyPr wrap="square" lIns="0" tIns="0" rIns="0" bIns="0">
            <a:spAutoFit/>
          </a:bodyPr>
          <a:lstStyle/>
          <a:p>
            <a:pPr>
              <a:defRPr sz="1300" b="1">
                <a:solidFill>
                  <a:srgbClr val="EF4444"/>
                </a:solidFill>
              </a:defRPr>
            </a:pPr>
            <a:r>
              <a:t>4. POLICY GATE</a:t>
            </a:r>
          </a:p>
        </p:txBody>
      </p:sp>
      <p:sp>
        <p:nvSpPr>
          <p:cNvPr id="17" name="TextBox 16"/>
          <p:cNvSpPr txBox="1"/>
          <p:nvPr/>
        </p:nvSpPr>
        <p:spPr>
          <a:xfrm>
            <a:off x="7452360" y="2286000"/>
            <a:ext cx="1737360" cy="1280160"/>
          </a:xfrm>
          <a:prstGeom prst="rect">
            <a:avLst/>
          </a:prstGeom>
          <a:noFill/>
        </p:spPr>
        <p:txBody>
          <a:bodyPr wrap="square">
            <a:spAutoFit/>
          </a:bodyPr>
          <a:lstStyle/>
          <a:p>
            <a:pPr>
              <a:defRPr sz="1000">
                <a:solidFill>
                  <a:srgbClr val="94A3B8"/>
                </a:solidFill>
              </a:defRPr>
            </a:pPr>
            <a:r>
              <a:t>Automated Action Escalation: ALLOW / CHALLENGE / HOLD</a:t>
            </a:r>
          </a:p>
        </p:txBody>
      </p:sp>
      <p:sp>
        <p:nvSpPr>
          <p:cNvPr id="18" name="Rounded Rectangle 17"/>
          <p:cNvSpPr/>
          <p:nvPr/>
        </p:nvSpPr>
        <p:spPr>
          <a:xfrm>
            <a:off x="9509760" y="1737360"/>
            <a:ext cx="2011680" cy="201168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38360" y="1920240"/>
            <a:ext cx="1554480" cy="365760"/>
          </a:xfrm>
          <a:prstGeom prst="rect">
            <a:avLst/>
          </a:prstGeom>
          <a:noFill/>
        </p:spPr>
        <p:txBody>
          <a:bodyPr wrap="square" lIns="0" tIns="0" rIns="0" bIns="0">
            <a:spAutoFit/>
          </a:bodyPr>
          <a:lstStyle/>
          <a:p>
            <a:pPr>
              <a:defRPr sz="1300" b="1">
                <a:solidFill>
                  <a:srgbClr val="10B981"/>
                </a:solidFill>
              </a:defRPr>
            </a:pPr>
            <a:r>
              <a:t>5. AUDIT CHAIN</a:t>
            </a:r>
          </a:p>
        </p:txBody>
      </p:sp>
      <p:sp>
        <p:nvSpPr>
          <p:cNvPr id="20" name="TextBox 19"/>
          <p:cNvSpPr txBox="1"/>
          <p:nvPr/>
        </p:nvSpPr>
        <p:spPr>
          <a:xfrm>
            <a:off x="9646920" y="2286000"/>
            <a:ext cx="1737360" cy="1280160"/>
          </a:xfrm>
          <a:prstGeom prst="rect">
            <a:avLst/>
          </a:prstGeom>
          <a:noFill/>
        </p:spPr>
        <p:txBody>
          <a:bodyPr wrap="square">
            <a:spAutoFit/>
          </a:bodyPr>
          <a:lstStyle/>
          <a:p>
            <a:pPr>
              <a:defRPr sz="1000">
                <a:solidFill>
                  <a:srgbClr val="94A3B8"/>
                </a:solidFill>
              </a:defRPr>
            </a:pPr>
            <a:r>
              <a:t>Tamper-Evident Forensic SHA-256 Ledger for Legal Non-Repudiation</a:t>
            </a:r>
          </a:p>
        </p:txBody>
      </p:sp>
      <p:sp>
        <p:nvSpPr>
          <p:cNvPr id="21" name="Rounded Rectangle 20"/>
          <p:cNvSpPr/>
          <p:nvPr/>
        </p:nvSpPr>
        <p:spPr>
          <a:xfrm>
            <a:off x="731520" y="4023360"/>
            <a:ext cx="5212080" cy="2194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4206240"/>
            <a:ext cx="4754880" cy="365760"/>
          </a:xfrm>
          <a:prstGeom prst="rect">
            <a:avLst/>
          </a:prstGeom>
          <a:noFill/>
        </p:spPr>
        <p:txBody>
          <a:bodyPr wrap="square" lIns="0" tIns="0" rIns="0" bIns="0">
            <a:spAutoFit/>
          </a:bodyPr>
          <a:lstStyle/>
          <a:p>
            <a:pPr>
              <a:defRPr sz="1300" b="1">
                <a:solidFill>
                  <a:srgbClr val="F59E0B"/>
                </a:solidFill>
              </a:defRPr>
            </a:pPr>
            <a:r>
              <a:t>Strategic Non-Goal (Explicit Scope)</a:t>
            </a:r>
          </a:p>
        </p:txBody>
      </p:sp>
      <p:sp>
        <p:nvSpPr>
          <p:cNvPr id="23" name="TextBox 22"/>
          <p:cNvSpPr txBox="1"/>
          <p:nvPr/>
        </p:nvSpPr>
        <p:spPr>
          <a:xfrm>
            <a:off x="960120" y="4480560"/>
            <a:ext cx="4754880" cy="1645920"/>
          </a:xfrm>
          <a:prstGeom prst="rect">
            <a:avLst/>
          </a:prstGeom>
          <a:noFill/>
        </p:spPr>
        <p:txBody>
          <a:bodyPr wrap="square">
            <a:spAutoFit/>
          </a:bodyPr>
          <a:lstStyle/>
          <a:p>
            <a:pPr>
              <a:defRPr b="1" sz="1100">
                <a:solidFill>
                  <a:srgbClr val="F8FAFC"/>
                </a:solidFill>
              </a:defRPr>
            </a:pPr>
            <a:r>
              <a:t>VoiceGuard is NOT a replacement for:</a:t>
            </a:r>
          </a:p>
          <a:p>
            <a:pPr>
              <a:defRPr sz="950">
                <a:solidFill>
                  <a:srgbClr val="94A3B8"/>
                </a:solidFill>
              </a:defRPr>
            </a:pPr>
            <a:r>
              <a:t>x  Public Switched Telephone Networks (PSTN) or telecom carriers.</a:t>
            </a:r>
          </a:p>
          <a:p>
            <a:pPr>
              <a:defRPr sz="950">
                <a:solidFill>
                  <a:srgbClr val="94A3B8"/>
                </a:solidFill>
              </a:defRPr>
            </a:pPr>
            <a:r>
              <a:t>x  Enterprise PBX/VoIP switches (Cisco, Asterisk, FreeSWITCH).</a:t>
            </a:r>
          </a:p>
          <a:p>
            <a:pPr>
              <a:defRPr sz="950">
                <a:solidFill>
                  <a:srgbClr val="94A3B8"/>
                </a:solidFill>
              </a:defRPr>
            </a:pPr>
            <a:r>
              <a:t>x  Core banking ledgers or ERP authorization systems.</a:t>
            </a:r>
          </a:p>
        </p:txBody>
      </p:sp>
      <p:sp>
        <p:nvSpPr>
          <p:cNvPr id="24" name="Rounded Rectangle 23"/>
          <p:cNvSpPr/>
          <p:nvPr/>
        </p:nvSpPr>
        <p:spPr>
          <a:xfrm>
            <a:off x="6217920" y="4023360"/>
            <a:ext cx="5212080" cy="2194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4206240"/>
            <a:ext cx="4754880" cy="365760"/>
          </a:xfrm>
          <a:prstGeom prst="rect">
            <a:avLst/>
          </a:prstGeom>
          <a:noFill/>
        </p:spPr>
        <p:txBody>
          <a:bodyPr wrap="square" lIns="0" tIns="0" rIns="0" bIns="0">
            <a:spAutoFit/>
          </a:bodyPr>
          <a:lstStyle/>
          <a:p>
            <a:pPr>
              <a:defRPr sz="1300" b="1">
                <a:solidFill>
                  <a:srgbClr val="10B981"/>
                </a:solidFill>
              </a:defRPr>
            </a:pPr>
            <a:r>
              <a:t>Defensive Gate Functionality (Active Layer)</a:t>
            </a:r>
          </a:p>
        </p:txBody>
      </p:sp>
      <p:sp>
        <p:nvSpPr>
          <p:cNvPr id="26" name="TextBox 25"/>
          <p:cNvSpPr txBox="1"/>
          <p:nvPr/>
        </p:nvSpPr>
        <p:spPr>
          <a:xfrm>
            <a:off x="6446520" y="4480560"/>
            <a:ext cx="4754880" cy="1645920"/>
          </a:xfrm>
          <a:prstGeom prst="rect">
            <a:avLst/>
          </a:prstGeom>
          <a:noFill/>
        </p:spPr>
        <p:txBody>
          <a:bodyPr wrap="square">
            <a:spAutoFit/>
          </a:bodyPr>
          <a:lstStyle/>
          <a:p>
            <a:pPr>
              <a:defRPr b="1" sz="1100">
                <a:solidFill>
                  <a:srgbClr val="F8FAFC"/>
                </a:solidFill>
              </a:defRPr>
            </a:pPr>
            <a:r>
              <a:t>VoiceGuard operates as an intelligent cybersecurity wrapper:</a:t>
            </a:r>
          </a:p>
          <a:p>
            <a:pPr>
              <a:defRPr sz="950">
                <a:solidFill>
                  <a:srgbClr val="94A3B8"/>
                </a:solidFill>
              </a:defRPr>
            </a:pPr>
            <a:r>
              <a:t>&gt;  Monitors audio streams non-intrusively via real-time WebSocket taps.</a:t>
            </a:r>
          </a:p>
          <a:p>
            <a:pPr>
              <a:defRPr sz="950">
                <a:solidFill>
                  <a:srgbClr val="94A3B8"/>
                </a:solidFill>
              </a:defRPr>
            </a:pPr>
            <a:r>
              <a:t>&gt;  Evaluates the sensitivity of the action being verbally commanded.</a:t>
            </a:r>
          </a:p>
          <a:p>
            <a:pPr>
              <a:defRPr sz="950">
                <a:solidFill>
                  <a:srgbClr val="94A3B8"/>
                </a:solidFill>
              </a:defRPr>
            </a:pPr>
            <a:r>
              <a:t>&gt;  Directly signals transaction gates to halt settlement if impersonation score exceeds risk threshold.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SYSTEM ARCHITECTURE &amp; ENGINEERING PIPELINE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End-to-End Modular Cybersecurity Infrastructure</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Engineered for sub-150ms stream analysis, modular AI deployment, and resilient enterprise gating.</a:t>
            </a:r>
          </a:p>
        </p:txBody>
      </p:sp>
      <p:sp>
        <p:nvSpPr>
          <p:cNvPr id="6" name="Rounded Rectangle 5"/>
          <p:cNvSpPr/>
          <p:nvPr/>
        </p:nvSpPr>
        <p:spPr>
          <a:xfrm>
            <a:off x="7315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926080" cy="365760"/>
          </a:xfrm>
          <a:prstGeom prst="rect">
            <a:avLst/>
          </a:prstGeom>
          <a:noFill/>
        </p:spPr>
        <p:txBody>
          <a:bodyPr wrap="square" lIns="0" tIns="0" rIns="0" bIns="0">
            <a:spAutoFit/>
          </a:bodyPr>
          <a:lstStyle/>
          <a:p>
            <a:pPr>
              <a:defRPr sz="1300" b="1">
                <a:solidFill>
                  <a:srgbClr val="0EA5E9"/>
                </a:solidFill>
              </a:defRPr>
            </a:pPr>
            <a:r>
              <a:t>1. Ingestion &amp; Preprocessing</a:t>
            </a:r>
          </a:p>
        </p:txBody>
      </p:sp>
      <p:sp>
        <p:nvSpPr>
          <p:cNvPr id="8" name="TextBox 7"/>
          <p:cNvSpPr txBox="1"/>
          <p:nvPr/>
        </p:nvSpPr>
        <p:spPr>
          <a:xfrm>
            <a:off x="960120" y="2240280"/>
            <a:ext cx="2926080" cy="3749039"/>
          </a:xfrm>
          <a:prstGeom prst="rect">
            <a:avLst/>
          </a:prstGeom>
          <a:noFill/>
        </p:spPr>
        <p:txBody>
          <a:bodyPr wrap="square">
            <a:spAutoFit/>
          </a:bodyPr>
          <a:lstStyle/>
          <a:p>
            <a:pPr>
              <a:defRPr b="1" sz="1000">
                <a:solidFill>
                  <a:srgbClr val="F8FAFC"/>
                </a:solidFill>
              </a:defRPr>
            </a:pPr>
            <a:r>
              <a:t>WebRTC / SIP Ingestion</a:t>
            </a:r>
          </a:p>
          <a:p>
            <a:pPr>
              <a:spcAft>
                <a:spcPts val="800"/>
              </a:spcAft>
              <a:defRPr sz="900">
                <a:solidFill>
                  <a:srgbClr val="94A3B8"/>
                </a:solidFill>
              </a:defRPr>
            </a:pPr>
            <a:r>
              <a:t>WebSocket streaming endpoint (/api/v1/stream/{call_id}) accepting real-time binary audio chunks.</a:t>
            </a:r>
          </a:p>
          <a:p>
            <a:pPr>
              <a:defRPr b="1" sz="1000">
                <a:solidFill>
                  <a:srgbClr val="F8FAFC"/>
                </a:solidFill>
              </a:defRPr>
            </a:pPr>
            <a:r>
              <a:t>Voice Activity Detection (VAD)</a:t>
            </a:r>
          </a:p>
          <a:p>
            <a:pPr>
              <a:spcAft>
                <a:spcPts val="800"/>
              </a:spcAft>
              <a:defRPr sz="900">
                <a:solidFill>
                  <a:srgbClr val="94A3B8"/>
                </a:solidFill>
              </a:defRPr>
            </a:pPr>
            <a:r>
              <a:t>Energy-adaptive thresholding filter removes acoustic silence, line background noise, and packet drops.</a:t>
            </a:r>
          </a:p>
          <a:p>
            <a:pPr>
              <a:defRPr b="1" sz="1000">
                <a:solidFill>
                  <a:srgbClr val="F8FAFC"/>
                </a:solidFill>
              </a:defRPr>
            </a:pPr>
            <a:r>
              <a:t>Sliding Window Resampling</a:t>
            </a:r>
          </a:p>
          <a:p>
            <a:pPr>
              <a:spcAft>
                <a:spcPts val="800"/>
              </a:spcAft>
              <a:defRPr sz="900">
                <a:solidFill>
                  <a:srgbClr val="94A3B8"/>
                </a:solidFill>
              </a:defRPr>
            </a:pPr>
            <a:r>
              <a:t>Standardizes audio to 16 kHz, 16-bit mono PCM. Maintains a 3.0-second sliding buffer with 500ms hop size.</a:t>
            </a:r>
          </a:p>
          <a:p>
            <a:pPr>
              <a:defRPr b="1" sz="1000">
                <a:solidFill>
                  <a:srgbClr val="F8FAFC"/>
                </a:solidFill>
              </a:defRPr>
            </a:pPr>
            <a:r>
              <a:t>Ring Buffer Telemetry</a:t>
            </a:r>
          </a:p>
          <a:p>
            <a:pPr>
              <a:defRPr sz="900">
                <a:solidFill>
                  <a:srgbClr val="94A3B8"/>
                </a:solidFill>
              </a:defRPr>
            </a:pPr>
            <a:r>
              <a:t>In-memory circular buffers ensure zero-copy latency and bounded memory consumption.</a:t>
            </a:r>
          </a:p>
        </p:txBody>
      </p:sp>
      <p:sp>
        <p:nvSpPr>
          <p:cNvPr id="9" name="Rounded Rectangle 8"/>
          <p:cNvSpPr/>
          <p:nvPr/>
        </p:nvSpPr>
        <p:spPr>
          <a:xfrm>
            <a:off x="43891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920240"/>
            <a:ext cx="2926080" cy="365760"/>
          </a:xfrm>
          <a:prstGeom prst="rect">
            <a:avLst/>
          </a:prstGeom>
          <a:noFill/>
        </p:spPr>
        <p:txBody>
          <a:bodyPr wrap="square" lIns="0" tIns="0" rIns="0" bIns="0">
            <a:spAutoFit/>
          </a:bodyPr>
          <a:lstStyle/>
          <a:p>
            <a:pPr>
              <a:defRPr sz="1300" b="1">
                <a:solidFill>
                  <a:srgbClr val="14B8A6"/>
                </a:solidFill>
              </a:defRPr>
            </a:pPr>
            <a:r>
              <a:t>2. AI Inference &amp; Fusion Engine</a:t>
            </a:r>
          </a:p>
        </p:txBody>
      </p:sp>
      <p:sp>
        <p:nvSpPr>
          <p:cNvPr id="11" name="TextBox 10"/>
          <p:cNvSpPr txBox="1"/>
          <p:nvPr/>
        </p:nvSpPr>
        <p:spPr>
          <a:xfrm>
            <a:off x="4617720" y="2240280"/>
            <a:ext cx="2926080" cy="3749039"/>
          </a:xfrm>
          <a:prstGeom prst="rect">
            <a:avLst/>
          </a:prstGeom>
          <a:noFill/>
        </p:spPr>
        <p:txBody>
          <a:bodyPr wrap="square">
            <a:spAutoFit/>
          </a:bodyPr>
          <a:lstStyle/>
          <a:p>
            <a:pPr>
              <a:defRPr b="1" sz="1000">
                <a:solidFill>
                  <a:srgbClr val="F8FAFC"/>
                </a:solidFill>
              </a:defRPr>
            </a:pPr>
            <a:r>
              <a:t>Synthetic Audio Discriminator</a:t>
            </a:r>
          </a:p>
          <a:p>
            <a:pPr>
              <a:spcAft>
                <a:spcPts val="800"/>
              </a:spcAft>
              <a:defRPr sz="900">
                <a:solidFill>
                  <a:srgbClr val="94A3B8"/>
                </a:solidFill>
              </a:defRPr>
            </a:pPr>
            <a:r>
              <a:t>Fine-tuned WavLM / RawNet3 extracts spectral phase discontinuities, high-band vocoder cuts, and mel-cepstral anomalies.</a:t>
            </a:r>
          </a:p>
          <a:p>
            <a:pPr>
              <a:defRPr b="1" sz="1000">
                <a:solidFill>
                  <a:srgbClr val="F8FAFC"/>
                </a:solidFill>
              </a:defRPr>
            </a:pPr>
            <a:r>
              <a:t>Acoustic Biometric Matcher</a:t>
            </a:r>
          </a:p>
          <a:p>
            <a:pPr>
              <a:spcAft>
                <a:spcPts val="800"/>
              </a:spcAft>
              <a:defRPr sz="900">
                <a:solidFill>
                  <a:srgbClr val="94A3B8"/>
                </a:solidFill>
              </a:defRPr>
            </a:pPr>
            <a:r>
              <a:t>192-dim ECAPA-TDNN embedding extractor computing cosine similarity against enrolled target voiceprints.</a:t>
            </a:r>
          </a:p>
          <a:p>
            <a:pPr>
              <a:defRPr b="1" sz="1000">
                <a:solidFill>
                  <a:srgbClr val="F8FAFC"/>
                </a:solidFill>
              </a:defRPr>
            </a:pPr>
            <a:r>
              <a:t>Multi-Signal Fusion Core</a:t>
            </a:r>
          </a:p>
          <a:p>
            <a:pPr>
              <a:spcAft>
                <a:spcPts val="800"/>
              </a:spcAft>
              <a:defRPr sz="900">
                <a:solidFill>
                  <a:srgbClr val="94A3B8"/>
                </a:solidFill>
              </a:defRPr>
            </a:pPr>
            <a:r>
              <a:t>Dynamic weighted risk scoring combining synthetic score, biometric distance, acoustic anomaly, and prosodic continuity.</a:t>
            </a:r>
          </a:p>
          <a:p>
            <a:pPr>
              <a:defRPr b="1" sz="1000">
                <a:solidFill>
                  <a:srgbClr val="F8FAFC"/>
                </a:solidFill>
              </a:defRPr>
            </a:pPr>
            <a:r>
              <a:t>Temporal Smoothing Filter</a:t>
            </a:r>
          </a:p>
          <a:p>
            <a:pPr>
              <a:defRPr sz="900">
                <a:solidFill>
                  <a:srgbClr val="94A3B8"/>
                </a:solidFill>
              </a:defRPr>
            </a:pPr>
            <a:r>
              <a:t>Hysteresis window prevents single-packet jitter from triggering false positive alarms.</a:t>
            </a:r>
          </a:p>
        </p:txBody>
      </p:sp>
      <p:sp>
        <p:nvSpPr>
          <p:cNvPr id="12" name="Rounded Rectangle 11"/>
          <p:cNvSpPr/>
          <p:nvPr/>
        </p:nvSpPr>
        <p:spPr>
          <a:xfrm>
            <a:off x="80467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920240"/>
            <a:ext cx="2926080" cy="365760"/>
          </a:xfrm>
          <a:prstGeom prst="rect">
            <a:avLst/>
          </a:prstGeom>
          <a:noFill/>
        </p:spPr>
        <p:txBody>
          <a:bodyPr wrap="square" lIns="0" tIns="0" rIns="0" bIns="0">
            <a:spAutoFit/>
          </a:bodyPr>
          <a:lstStyle/>
          <a:p>
            <a:pPr>
              <a:defRPr sz="1300" b="1">
                <a:solidFill>
                  <a:srgbClr val="10B981"/>
                </a:solidFill>
              </a:defRPr>
            </a:pPr>
            <a:r>
              <a:t>3. Policy Gate &amp; Forensic Ledger</a:t>
            </a:r>
          </a:p>
        </p:txBody>
      </p:sp>
      <p:sp>
        <p:nvSpPr>
          <p:cNvPr id="14" name="TextBox 13"/>
          <p:cNvSpPr txBox="1"/>
          <p:nvPr/>
        </p:nvSpPr>
        <p:spPr>
          <a:xfrm>
            <a:off x="8275320" y="2240280"/>
            <a:ext cx="2926080" cy="3749039"/>
          </a:xfrm>
          <a:prstGeom prst="rect">
            <a:avLst/>
          </a:prstGeom>
          <a:noFill/>
        </p:spPr>
        <p:txBody>
          <a:bodyPr wrap="square">
            <a:spAutoFit/>
          </a:bodyPr>
          <a:lstStyle/>
          <a:p>
            <a:pPr>
              <a:defRPr b="1" sz="1000">
                <a:solidFill>
                  <a:srgbClr val="F8FAFC"/>
                </a:solidFill>
              </a:defRPr>
            </a:pPr>
            <a:r>
              <a:t>Action Sensitivity Analyzer</a:t>
            </a:r>
          </a:p>
          <a:p>
            <a:pPr>
              <a:spcAft>
                <a:spcPts val="800"/>
              </a:spcAft>
              <a:defRPr sz="900">
                <a:solidFill>
                  <a:srgbClr val="94A3B8"/>
                </a:solidFill>
              </a:defRPr>
            </a:pPr>
            <a:r>
              <a:t>Evaluates call context (wire transfer, credential change, routine dispatch) to dynamically adjust threshold risk.</a:t>
            </a:r>
          </a:p>
          <a:p>
            <a:pPr>
              <a:defRPr b="1" sz="1000">
                <a:solidFill>
                  <a:srgbClr val="F8FAFC"/>
                </a:solidFill>
              </a:defRPr>
            </a:pPr>
            <a:r>
              <a:t>Autonomous Policy Gate</a:t>
            </a:r>
          </a:p>
          <a:p>
            <a:pPr>
              <a:spcAft>
                <a:spcPts val="800"/>
              </a:spcAft>
              <a:defRPr sz="900">
                <a:solidFill>
                  <a:srgbClr val="94A3B8"/>
                </a:solidFill>
              </a:defRPr>
            </a:pPr>
            <a:r>
              <a:t>Dispatches real-time decisions: ALLOW, ADDITIONAL_VERIFICATION (MFA challenge), or HOLD_SENSITIVE_ACTION.</a:t>
            </a:r>
          </a:p>
          <a:p>
            <a:pPr>
              <a:defRPr b="1" sz="1000">
                <a:solidFill>
                  <a:srgbClr val="F8FAFC"/>
                </a:solidFill>
              </a:defRPr>
            </a:pPr>
            <a:r>
              <a:t>Downstream Enforcement Webhooks</a:t>
            </a:r>
          </a:p>
          <a:p>
            <a:pPr>
              <a:spcAft>
                <a:spcPts val="800"/>
              </a:spcAft>
              <a:defRPr sz="900">
                <a:solidFill>
                  <a:srgbClr val="94A3B8"/>
                </a:solidFill>
              </a:defRPr>
            </a:pPr>
            <a:r>
              <a:t>Zero-latency REST/gRPC webhooks to Core Banking / IAM APIs to suspend transaction processing.</a:t>
            </a:r>
          </a:p>
          <a:p>
            <a:pPr>
              <a:defRPr b="1" sz="1000">
                <a:solidFill>
                  <a:srgbClr val="F8FAFC"/>
                </a:solidFill>
              </a:defRPr>
            </a:pPr>
            <a:r>
              <a:t>Tamper-Evident SHA-256 Ledger</a:t>
            </a:r>
          </a:p>
          <a:p>
            <a:pPr>
              <a:defRPr sz="900">
                <a:solidFill>
                  <a:srgbClr val="94A3B8"/>
                </a:solidFill>
              </a:defRPr>
            </a:pPr>
            <a:r>
              <a:t>Cryptographic block state chain storing audit events with previous hash linkage for non-repudiation.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AUDIO STREAM TELEMETRY &amp; PREPROCESSING</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Low-Latency Sliding Window Acoustic Pipeline</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Overcoming acoustic jitter, environmental noise, and codec compression artifacts in live telephony.</a:t>
            </a:r>
          </a:p>
        </p:txBody>
      </p:sp>
      <p:sp>
        <p:nvSpPr>
          <p:cNvPr id="6" name="Rounded Rectangle 5"/>
          <p:cNvSpPr/>
          <p:nvPr/>
        </p:nvSpPr>
        <p:spPr>
          <a:xfrm>
            <a:off x="731520" y="1737360"/>
            <a:ext cx="61264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5669280" cy="365760"/>
          </a:xfrm>
          <a:prstGeom prst="rect">
            <a:avLst/>
          </a:prstGeom>
          <a:noFill/>
        </p:spPr>
        <p:txBody>
          <a:bodyPr wrap="square" lIns="0" tIns="0" rIns="0" bIns="0">
            <a:spAutoFit/>
          </a:bodyPr>
          <a:lstStyle/>
          <a:p>
            <a:pPr>
              <a:defRPr sz="1300" b="1">
                <a:solidFill>
                  <a:srgbClr val="0EA5E9"/>
                </a:solidFill>
              </a:defRPr>
            </a:pPr>
            <a:r>
              <a:t>Stream Processing Mechanics</a:t>
            </a:r>
          </a:p>
        </p:txBody>
      </p:sp>
      <p:sp>
        <p:nvSpPr>
          <p:cNvPr id="8" name="TextBox 7"/>
          <p:cNvSpPr txBox="1"/>
          <p:nvPr/>
        </p:nvSpPr>
        <p:spPr>
          <a:xfrm>
            <a:off x="960120" y="2240280"/>
            <a:ext cx="5669280" cy="3749039"/>
          </a:xfrm>
          <a:prstGeom prst="rect">
            <a:avLst/>
          </a:prstGeom>
          <a:noFill/>
        </p:spPr>
        <p:txBody>
          <a:bodyPr wrap="square">
            <a:spAutoFit/>
          </a:bodyPr>
          <a:lstStyle/>
          <a:p>
            <a:pPr>
              <a:defRPr b="1" sz="1100">
                <a:solidFill>
                  <a:srgbClr val="F8FAFC"/>
                </a:solidFill>
              </a:defRPr>
            </a:pPr>
            <a:r>
              <a:t>1. Ingestion &amp; Normalization</a:t>
            </a:r>
          </a:p>
          <a:p>
            <a:pPr>
              <a:spcAft>
                <a:spcPts val="1000"/>
              </a:spcAft>
              <a:defRPr sz="950">
                <a:solidFill>
                  <a:srgbClr val="94A3B8"/>
                </a:solidFill>
              </a:defRPr>
            </a:pPr>
            <a:r>
              <a:t>Raw 16-bit PCM streaming over WebSocket. Audio is resampled to 16 kHz mono. Peak normalization removes microphone gain disparities.</a:t>
            </a:r>
          </a:p>
          <a:p>
            <a:pPr>
              <a:defRPr b="1" sz="1100">
                <a:solidFill>
                  <a:srgbClr val="F8FAFC"/>
                </a:solidFill>
              </a:defRPr>
            </a:pPr>
            <a:r>
              <a:t>2. Energy-Adaptive Voice Activity Detection (VAD)</a:t>
            </a:r>
          </a:p>
          <a:p>
            <a:pPr>
              <a:spcAft>
                <a:spcPts val="1000"/>
              </a:spcAft>
              <a:defRPr sz="950">
                <a:solidFill>
                  <a:srgbClr val="94A3B8"/>
                </a:solidFill>
              </a:defRPr>
            </a:pPr>
            <a:r>
              <a:t>Short-time energy and spectral flatness metrics filter out non-speech segments. Silence, keyboard clicks, and background noise are rejected before reaching neural models, reducing compute load by 40%.</a:t>
            </a:r>
          </a:p>
          <a:p>
            <a:pPr>
              <a:defRPr b="1" sz="1100">
                <a:solidFill>
                  <a:srgbClr val="F8FAFC"/>
                </a:solidFill>
              </a:defRPr>
            </a:pPr>
            <a:r>
              <a:t>3. 3-Second Sliding Window with 500ms Hop</a:t>
            </a:r>
          </a:p>
          <a:p>
            <a:pPr>
              <a:spcAft>
                <a:spcPts val="1000"/>
              </a:spcAft>
              <a:defRPr sz="950">
                <a:solidFill>
                  <a:srgbClr val="94A3B8"/>
                </a:solidFill>
              </a:defRPr>
            </a:pPr>
            <a:r>
              <a:t>Window duration of 3.0 seconds ensures sufficient phonetic content for phoneme-level vocoder artifact detection. 500ms hop size delivers 2 evaluation updates every second.</a:t>
            </a:r>
          </a:p>
          <a:p>
            <a:pPr>
              <a:defRPr b="1" sz="1100">
                <a:solidFill>
                  <a:srgbClr val="F8FAFC"/>
                </a:solidFill>
              </a:defRPr>
            </a:pPr>
            <a:r>
              <a:t>4. Zero-Copy Circular Ring Buffer</a:t>
            </a:r>
          </a:p>
          <a:p>
            <a:pPr>
              <a:defRPr sz="950">
                <a:solidFill>
                  <a:srgbClr val="94A3B8"/>
                </a:solidFill>
              </a:defRPr>
            </a:pPr>
            <a:r>
              <a:t>Audio frames are maintained in circular memory buffers. Avoids continuous memory allocations and prevents garbage collection pauses.</a:t>
            </a:r>
          </a:p>
        </p:txBody>
      </p:sp>
      <p:sp>
        <p:nvSpPr>
          <p:cNvPr id="9" name="Rounded Rectangle 8"/>
          <p:cNvSpPr/>
          <p:nvPr/>
        </p:nvSpPr>
        <p:spPr>
          <a:xfrm>
            <a:off x="7132320" y="1737360"/>
            <a:ext cx="42976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0920" y="1920240"/>
            <a:ext cx="3840480" cy="365760"/>
          </a:xfrm>
          <a:prstGeom prst="rect">
            <a:avLst/>
          </a:prstGeom>
          <a:noFill/>
        </p:spPr>
        <p:txBody>
          <a:bodyPr wrap="square" lIns="0" tIns="0" rIns="0" bIns="0">
            <a:spAutoFit/>
          </a:bodyPr>
          <a:lstStyle/>
          <a:p>
            <a:pPr>
              <a:defRPr sz="1300" b="1">
                <a:solidFill>
                  <a:srgbClr val="14B8A6"/>
                </a:solidFill>
              </a:defRPr>
            </a:pPr>
            <a:r>
              <a:t>Acoustic Engineering Parameters</a:t>
            </a:r>
          </a:p>
        </p:txBody>
      </p:sp>
      <p:sp>
        <p:nvSpPr>
          <p:cNvPr id="11" name="TextBox 10"/>
          <p:cNvSpPr txBox="1"/>
          <p:nvPr/>
        </p:nvSpPr>
        <p:spPr>
          <a:xfrm>
            <a:off x="7360920" y="2240280"/>
            <a:ext cx="3840480" cy="3749039"/>
          </a:xfrm>
          <a:prstGeom prst="rect">
            <a:avLst/>
          </a:prstGeom>
          <a:noFill/>
        </p:spPr>
        <p:txBody>
          <a:bodyPr wrap="square">
            <a:spAutoFit/>
          </a:bodyPr>
          <a:lstStyle/>
          <a:p>
            <a:pPr>
              <a:spcAft>
                <a:spcPts val="1200"/>
              </a:spcAft>
              <a:defRPr b="1" sz="1000">
                <a:solidFill>
                  <a:srgbClr val="F8FAFC"/>
                </a:solidFill>
              </a:defRPr>
            </a:pPr>
            <a:r>
              <a:t>Target Sampling Rate: </a:t>
            </a:r>
            <a:r>
              <a:rPr b="0">
                <a:solidFill>
                  <a:srgbClr val="0EA5E9"/>
                </a:solidFill>
              </a:rPr>
              <a:t>16,000 Hz (16 kHz)</a:t>
            </a:r>
          </a:p>
          <a:p>
            <a:pPr>
              <a:spcAft>
                <a:spcPts val="1200"/>
              </a:spcAft>
              <a:defRPr b="1" sz="1000">
                <a:solidFill>
                  <a:srgbClr val="F8FAFC"/>
                </a:solidFill>
              </a:defRPr>
            </a:pPr>
            <a:r>
              <a:t>Quantization Depth: </a:t>
            </a:r>
            <a:r>
              <a:rPr b="0">
                <a:solidFill>
                  <a:srgbClr val="0EA5E9"/>
                </a:solidFill>
              </a:rPr>
              <a:t>16-bit Signed Linear PCM</a:t>
            </a:r>
          </a:p>
          <a:p>
            <a:pPr>
              <a:spcAft>
                <a:spcPts val="1200"/>
              </a:spcAft>
              <a:defRPr b="1" sz="1000">
                <a:solidFill>
                  <a:srgbClr val="F8FAFC"/>
                </a:solidFill>
              </a:defRPr>
            </a:pPr>
            <a:r>
              <a:t>Analysis Window Duration: </a:t>
            </a:r>
            <a:r>
              <a:rPr b="0">
                <a:solidFill>
                  <a:srgbClr val="0EA5E9"/>
                </a:solidFill>
              </a:rPr>
              <a:t>3,000 ms (3.0 seconds)</a:t>
            </a:r>
          </a:p>
          <a:p>
            <a:pPr>
              <a:spcAft>
                <a:spcPts val="1200"/>
              </a:spcAft>
              <a:defRPr b="1" sz="1000">
                <a:solidFill>
                  <a:srgbClr val="F8FAFC"/>
                </a:solidFill>
              </a:defRPr>
            </a:pPr>
            <a:r>
              <a:t>Analysis Hop Size: </a:t>
            </a:r>
            <a:r>
              <a:rPr b="0">
                <a:solidFill>
                  <a:srgbClr val="0EA5E9"/>
                </a:solidFill>
              </a:rPr>
              <a:t>500 ms (Sub-second refresh)</a:t>
            </a:r>
          </a:p>
          <a:p>
            <a:pPr>
              <a:spcAft>
                <a:spcPts val="1200"/>
              </a:spcAft>
              <a:defRPr b="1" sz="1000">
                <a:solidFill>
                  <a:srgbClr val="F8FAFC"/>
                </a:solidFill>
              </a:defRPr>
            </a:pPr>
            <a:r>
              <a:t>VAD Energy Threshold: </a:t>
            </a:r>
            <a:r>
              <a:rPr b="0">
                <a:solidFill>
                  <a:srgbClr val="0EA5E9"/>
                </a:solidFill>
              </a:rPr>
              <a:t>Adaptive RMS (-42 dBFS baseline)</a:t>
            </a:r>
          </a:p>
          <a:p>
            <a:pPr>
              <a:spcAft>
                <a:spcPts val="1200"/>
              </a:spcAft>
              <a:defRPr b="1" sz="1000">
                <a:solidFill>
                  <a:srgbClr val="F8FAFC"/>
                </a:solidFill>
              </a:defRPr>
            </a:pPr>
            <a:r>
              <a:t>FFT Frame Size / Hop: </a:t>
            </a:r>
            <a:r>
              <a:rPr b="0">
                <a:solidFill>
                  <a:srgbClr val="0EA5E9"/>
                </a:solidFill>
              </a:rPr>
              <a:t>512 samples / 160 samples</a:t>
            </a:r>
          </a:p>
          <a:p>
            <a:pPr>
              <a:spcAft>
                <a:spcPts val="1200"/>
              </a:spcAft>
              <a:defRPr b="1" sz="1000">
                <a:solidFill>
                  <a:srgbClr val="F8FAFC"/>
                </a:solidFill>
              </a:defRPr>
            </a:pPr>
            <a:r>
              <a:t>Feature Space: </a:t>
            </a:r>
            <a:r>
              <a:rPr b="0">
                <a:solidFill>
                  <a:srgbClr val="0EA5E9"/>
                </a:solidFill>
              </a:rPr>
              <a:t>Log-Mel Spectrogram (80 filterbanks) + Raw Waveform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AI / ML DETECTION ARCHITECTURE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Dual-Model Inference Ensemble with Fallback Heuristics</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Simultaneously verifying acoustic naturalness and speaker identity while guaranteeing edge resilience.</a:t>
            </a:r>
          </a:p>
        </p:txBody>
      </p:sp>
      <p:sp>
        <p:nvSpPr>
          <p:cNvPr id="6" name="Rounded Rectangle 5"/>
          <p:cNvSpPr/>
          <p:nvPr/>
        </p:nvSpPr>
        <p:spPr>
          <a:xfrm>
            <a:off x="7315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926080" cy="365760"/>
          </a:xfrm>
          <a:prstGeom prst="rect">
            <a:avLst/>
          </a:prstGeom>
          <a:noFill/>
        </p:spPr>
        <p:txBody>
          <a:bodyPr wrap="square" lIns="0" tIns="0" rIns="0" bIns="0">
            <a:spAutoFit/>
          </a:bodyPr>
          <a:lstStyle/>
          <a:p>
            <a:pPr>
              <a:defRPr sz="1300" b="1">
                <a:solidFill>
                  <a:srgbClr val="EF4444"/>
                </a:solidFill>
              </a:defRPr>
            </a:pPr>
            <a:r>
              <a:t>Model A: Synthetic Speech Discriminator</a:t>
            </a:r>
          </a:p>
        </p:txBody>
      </p:sp>
      <p:sp>
        <p:nvSpPr>
          <p:cNvPr id="8" name="TextBox 7"/>
          <p:cNvSpPr txBox="1"/>
          <p:nvPr/>
        </p:nvSpPr>
        <p:spPr>
          <a:xfrm>
            <a:off x="960120" y="2240280"/>
            <a:ext cx="2926080" cy="3749039"/>
          </a:xfrm>
          <a:prstGeom prst="rect">
            <a:avLst/>
          </a:prstGeom>
          <a:noFill/>
        </p:spPr>
        <p:txBody>
          <a:bodyPr wrap="square">
            <a:spAutoFit/>
          </a:bodyPr>
          <a:lstStyle/>
          <a:p>
            <a:pPr>
              <a:defRPr b="1" sz="1000">
                <a:solidFill>
                  <a:srgbClr val="F8FAFC"/>
                </a:solidFill>
              </a:defRPr>
            </a:pPr>
            <a:r>
              <a:t>Base Architecture</a:t>
            </a:r>
          </a:p>
          <a:p>
            <a:pPr>
              <a:spcAft>
                <a:spcPts val="800"/>
              </a:spcAft>
              <a:defRPr sz="900">
                <a:solidFill>
                  <a:srgbClr val="94A3B8"/>
                </a:solidFill>
              </a:defRPr>
            </a:pPr>
            <a:r>
              <a:t>Fine-tuned WavLM / RawNet3 self-supervised representations.</a:t>
            </a:r>
          </a:p>
          <a:p>
            <a:pPr>
              <a:defRPr b="1" sz="1000">
                <a:solidFill>
                  <a:srgbClr val="F8FAFC"/>
                </a:solidFill>
              </a:defRPr>
            </a:pPr>
            <a:r>
              <a:t>Target Anomalies</a:t>
            </a:r>
          </a:p>
          <a:p>
            <a:pPr>
              <a:spcAft>
                <a:spcPts val="800"/>
              </a:spcAft>
              <a:defRPr sz="900">
                <a:solidFill>
                  <a:srgbClr val="94A3B8"/>
                </a:solidFill>
              </a:defRPr>
            </a:pPr>
            <a:r>
              <a:t>Detects neural vocoder artifacts: phase inconsistencies, high-frequency cutoff cliffs, and unnatural pitch transitions.</a:t>
            </a:r>
          </a:p>
          <a:p>
            <a:pPr>
              <a:defRPr b="1" sz="1000">
                <a:solidFill>
                  <a:srgbClr val="F8FAFC"/>
                </a:solidFill>
              </a:defRPr>
            </a:pPr>
            <a:r>
              <a:t>Output Probability</a:t>
            </a:r>
          </a:p>
          <a:p>
            <a:pPr>
              <a:spcAft>
                <a:spcPts val="800"/>
              </a:spcAft>
              <a:defRPr sz="900">
                <a:solidFill>
                  <a:srgbClr val="94A3B8"/>
                </a:solidFill>
              </a:defRPr>
            </a:pPr>
            <a:r>
              <a:t>Continuous confidence metric: S_synth in [0.0, 1.0].</a:t>
            </a:r>
          </a:p>
          <a:p>
            <a:pPr>
              <a:defRPr b="1" sz="1000">
                <a:solidFill>
                  <a:srgbClr val="F8FAFC"/>
                </a:solidFill>
              </a:defRPr>
            </a:pPr>
            <a:r>
              <a:t>Resilience</a:t>
            </a:r>
          </a:p>
          <a:p>
            <a:pPr>
              <a:defRPr sz="900">
                <a:solidFill>
                  <a:srgbClr val="94A3B8"/>
                </a:solidFill>
              </a:defRPr>
            </a:pPr>
            <a:r>
              <a:t>Trained across multiple vocoder paradigms (HiFi-GAN, WaveGlow, Diffusion Vocoders) to prevent overfitting to a single TTS engine.</a:t>
            </a:r>
          </a:p>
        </p:txBody>
      </p:sp>
      <p:sp>
        <p:nvSpPr>
          <p:cNvPr id="9" name="Rounded Rectangle 8"/>
          <p:cNvSpPr/>
          <p:nvPr/>
        </p:nvSpPr>
        <p:spPr>
          <a:xfrm>
            <a:off x="43891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920240"/>
            <a:ext cx="2926080" cy="365760"/>
          </a:xfrm>
          <a:prstGeom prst="rect">
            <a:avLst/>
          </a:prstGeom>
          <a:noFill/>
        </p:spPr>
        <p:txBody>
          <a:bodyPr wrap="square" lIns="0" tIns="0" rIns="0" bIns="0">
            <a:spAutoFit/>
          </a:bodyPr>
          <a:lstStyle/>
          <a:p>
            <a:pPr>
              <a:defRPr sz="1300" b="1">
                <a:solidFill>
                  <a:srgbClr val="0EA5E9"/>
                </a:solidFill>
              </a:defRPr>
            </a:pPr>
            <a:r>
              <a:t>Model B: Speaker Biometric Verification</a:t>
            </a:r>
          </a:p>
        </p:txBody>
      </p:sp>
      <p:sp>
        <p:nvSpPr>
          <p:cNvPr id="11" name="TextBox 10"/>
          <p:cNvSpPr txBox="1"/>
          <p:nvPr/>
        </p:nvSpPr>
        <p:spPr>
          <a:xfrm>
            <a:off x="4617720" y="2240280"/>
            <a:ext cx="2926080" cy="3749039"/>
          </a:xfrm>
          <a:prstGeom prst="rect">
            <a:avLst/>
          </a:prstGeom>
          <a:noFill/>
        </p:spPr>
        <p:txBody>
          <a:bodyPr wrap="square">
            <a:spAutoFit/>
          </a:bodyPr>
          <a:lstStyle/>
          <a:p>
            <a:pPr>
              <a:defRPr b="1" sz="1000">
                <a:solidFill>
                  <a:srgbClr val="F8FAFC"/>
                </a:solidFill>
              </a:defRPr>
            </a:pPr>
            <a:r>
              <a:t>Base Architecture</a:t>
            </a:r>
          </a:p>
          <a:p>
            <a:pPr>
              <a:spcAft>
                <a:spcPts val="800"/>
              </a:spcAft>
              <a:defRPr sz="900">
                <a:solidFill>
                  <a:srgbClr val="94A3B8"/>
                </a:solidFill>
              </a:defRPr>
            </a:pPr>
            <a:r>
              <a:t>192-dimensional ECAPA-TDNN (Emphasized Channel Attention TDNN).</a:t>
            </a:r>
          </a:p>
          <a:p>
            <a:pPr>
              <a:defRPr b="1" sz="1000">
                <a:solidFill>
                  <a:srgbClr val="F8FAFC"/>
                </a:solidFill>
              </a:defRPr>
            </a:pPr>
            <a:r>
              <a:t>Enrollment Voiceprint</a:t>
            </a:r>
          </a:p>
          <a:p>
            <a:pPr>
              <a:spcAft>
                <a:spcPts val="800"/>
              </a:spcAft>
              <a:defRPr sz="900">
                <a:solidFill>
                  <a:srgbClr val="94A3B8"/>
                </a:solidFill>
              </a:defRPr>
            </a:pPr>
            <a:r>
              <a:t>Cryptographically stored 192-dim vector from verified reference speech sample.</a:t>
            </a:r>
          </a:p>
          <a:p>
            <a:pPr>
              <a:defRPr b="1" sz="1000">
                <a:solidFill>
                  <a:srgbClr val="F8FAFC"/>
                </a:solidFill>
              </a:defRPr>
            </a:pPr>
            <a:r>
              <a:t>Verification Metric</a:t>
            </a:r>
          </a:p>
          <a:p>
            <a:pPr>
              <a:spcAft>
                <a:spcPts val="800"/>
              </a:spcAft>
              <a:defRPr sz="900">
                <a:solidFill>
                  <a:srgbClr val="94A3B8"/>
                </a:solidFill>
              </a:defRPr>
            </a:pPr>
            <a:r>
              <a:t>Cosine similarity distance: S_bio = cos(e_stream, e_target).</a:t>
            </a:r>
          </a:p>
          <a:p>
            <a:pPr>
              <a:defRPr b="1" sz="1000">
                <a:solidFill>
                  <a:srgbClr val="F8FAFC"/>
                </a:solidFill>
              </a:defRPr>
            </a:pPr>
            <a:r>
              <a:t>Crucial Role</a:t>
            </a:r>
          </a:p>
          <a:p>
            <a:pPr>
              <a:defRPr sz="900">
                <a:solidFill>
                  <a:srgbClr val="94A3B8"/>
                </a:solidFill>
              </a:defRPr>
            </a:pPr>
            <a:r>
              <a:t>Even if audio passes synthetic checks, a biometric mismatch immediately flags an unknown human impostor (e.g., SIM swap / device theft).</a:t>
            </a:r>
          </a:p>
        </p:txBody>
      </p:sp>
      <p:sp>
        <p:nvSpPr>
          <p:cNvPr id="12" name="Rounded Rectangle 11"/>
          <p:cNvSpPr/>
          <p:nvPr/>
        </p:nvSpPr>
        <p:spPr>
          <a:xfrm>
            <a:off x="80467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920240"/>
            <a:ext cx="2926080" cy="365760"/>
          </a:xfrm>
          <a:prstGeom prst="rect">
            <a:avLst/>
          </a:prstGeom>
          <a:noFill/>
        </p:spPr>
        <p:txBody>
          <a:bodyPr wrap="square" lIns="0" tIns="0" rIns="0" bIns="0">
            <a:spAutoFit/>
          </a:bodyPr>
          <a:lstStyle/>
          <a:p>
            <a:pPr>
              <a:defRPr sz="1300" b="1">
                <a:solidFill>
                  <a:srgbClr val="F59E0B"/>
                </a:solidFill>
              </a:defRPr>
            </a:pPr>
            <a:r>
              <a:t>Fallback: Acoustic Heuristic Engine</a:t>
            </a:r>
          </a:p>
        </p:txBody>
      </p:sp>
      <p:sp>
        <p:nvSpPr>
          <p:cNvPr id="14" name="TextBox 13"/>
          <p:cNvSpPr txBox="1"/>
          <p:nvPr/>
        </p:nvSpPr>
        <p:spPr>
          <a:xfrm>
            <a:off x="8275320" y="2240280"/>
            <a:ext cx="2926080" cy="3749039"/>
          </a:xfrm>
          <a:prstGeom prst="rect">
            <a:avLst/>
          </a:prstGeom>
          <a:noFill/>
        </p:spPr>
        <p:txBody>
          <a:bodyPr wrap="square">
            <a:spAutoFit/>
          </a:bodyPr>
          <a:lstStyle/>
          <a:p>
            <a:pPr>
              <a:defRPr b="1" sz="1000">
                <a:solidFill>
                  <a:srgbClr val="F8FAFC"/>
                </a:solidFill>
              </a:defRPr>
            </a:pPr>
            <a:r>
              <a:t>Zero-Dependency Defense</a:t>
            </a:r>
          </a:p>
          <a:p>
            <a:pPr>
              <a:spcAft>
                <a:spcPts val="800"/>
              </a:spcAft>
              <a:defRPr sz="900">
                <a:solidFill>
                  <a:srgbClr val="94A3B8"/>
                </a:solidFill>
              </a:defRPr>
            </a:pPr>
            <a:r>
              <a:t>Runs automatically if GPU is saturated, network disconnects, or hardware is constrained.</a:t>
            </a:r>
          </a:p>
          <a:p>
            <a:pPr>
              <a:defRPr b="1" sz="1000">
                <a:solidFill>
                  <a:srgbClr val="F8FAFC"/>
                </a:solidFill>
              </a:defRPr>
            </a:pPr>
            <a:r>
              <a:t>Spectral Flatness &amp; Centroid</a:t>
            </a:r>
          </a:p>
          <a:p>
            <a:pPr>
              <a:spcAft>
                <a:spcPts val="800"/>
              </a:spcAft>
              <a:defRPr sz="900">
                <a:solidFill>
                  <a:srgbClr val="94A3B8"/>
                </a:solidFill>
              </a:defRPr>
            </a:pPr>
            <a:r>
              <a:t>Calculates Wiener entropy to detect unnaturally uniform harmonic profiles typical of synthetic speech.</a:t>
            </a:r>
          </a:p>
          <a:p>
            <a:pPr>
              <a:defRPr b="1" sz="1000">
                <a:solidFill>
                  <a:srgbClr val="F8FAFC"/>
                </a:solidFill>
              </a:defRPr>
            </a:pPr>
            <a:r>
              <a:t>Zero-Crossing Rate (ZCR)</a:t>
            </a:r>
          </a:p>
          <a:p>
            <a:pPr>
              <a:spcAft>
                <a:spcPts val="800"/>
              </a:spcAft>
              <a:defRPr sz="900">
                <a:solidFill>
                  <a:srgbClr val="94A3B8"/>
                </a:solidFill>
              </a:defRPr>
            </a:pPr>
            <a:r>
              <a:t>Analyzes high-frequency jitter in unvoiced consonants.</a:t>
            </a:r>
          </a:p>
          <a:p>
            <a:pPr>
              <a:defRPr b="1" sz="1000">
                <a:solidFill>
                  <a:srgbClr val="F8FAFC"/>
                </a:solidFill>
              </a:defRPr>
            </a:pPr>
            <a:r>
              <a:t>Graceful Degradation</a:t>
            </a:r>
          </a:p>
          <a:p>
            <a:pPr>
              <a:defRPr sz="900">
                <a:solidFill>
                  <a:srgbClr val="94A3B8"/>
                </a:solidFill>
              </a:defRPr>
            </a:pPr>
            <a:r>
              <a:t>Guarantees that VoiceGuard never fails open. The security gate remains active under all conditions.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MULTI-SIGNAL RISK FUSION ENGINE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Dynamic Impersonation Threat Scoring (0–100)</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Fusing acoustic telemetry, speaker biometrics, and action criticality into an actionable risk metric.</a:t>
            </a:r>
          </a:p>
        </p:txBody>
      </p:sp>
      <p:sp>
        <p:nvSpPr>
          <p:cNvPr id="6" name="Rounded Rectangle 5"/>
          <p:cNvSpPr/>
          <p:nvPr/>
        </p:nvSpPr>
        <p:spPr>
          <a:xfrm>
            <a:off x="731520" y="1737360"/>
            <a:ext cx="10698480" cy="146304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10241280" cy="365760"/>
          </a:xfrm>
          <a:prstGeom prst="rect">
            <a:avLst/>
          </a:prstGeom>
          <a:noFill/>
        </p:spPr>
        <p:txBody>
          <a:bodyPr wrap="square" lIns="0" tIns="0" rIns="0" bIns="0">
            <a:spAutoFit/>
          </a:bodyPr>
          <a:lstStyle/>
          <a:p>
            <a:pPr>
              <a:defRPr sz="1300" b="1">
                <a:solidFill>
                  <a:srgbClr val="0EA5E9"/>
                </a:solidFill>
              </a:defRPr>
            </a:pPr>
            <a:r>
              <a:t>Mathematical Risk Formulation</a:t>
            </a:r>
          </a:p>
        </p:txBody>
      </p:sp>
      <p:sp>
        <p:nvSpPr>
          <p:cNvPr id="8" name="TextBox 7"/>
          <p:cNvSpPr txBox="1"/>
          <p:nvPr/>
        </p:nvSpPr>
        <p:spPr>
          <a:xfrm>
            <a:off x="960120" y="2148840"/>
            <a:ext cx="10241280" cy="914400"/>
          </a:xfrm>
          <a:prstGeom prst="rect">
            <a:avLst/>
          </a:prstGeom>
          <a:noFill/>
        </p:spPr>
        <p:txBody>
          <a:bodyPr wrap="square">
            <a:spAutoFit/>
          </a:bodyPr>
          <a:lstStyle/>
          <a:p>
            <a:pPr>
              <a:defRPr b="1" sz="1300">
                <a:solidFill>
                  <a:srgbClr val="14B8A6"/>
                </a:solidFill>
              </a:defRPr>
            </a:pPr>
            <a:r>
              <a:t>Risk = Clamp_0_100 [ w_s * S_synth + w_b * (1 - S_bio) + w_a * S_acoustic + w_p * S_prosody + w_c * C_action ]</a:t>
            </a:r>
          </a:p>
          <a:p>
            <a:pPr>
              <a:defRPr sz="1000">
                <a:solidFill>
                  <a:srgbClr val="94A3B8"/>
                </a:solidFill>
              </a:defRPr>
            </a:pPr>
            <a:r>
              <a:t>Where weights sum to 100: w_s = 40 (Synthetic Artifacts), w_b = 25 (Biometric Distance), w_a = 15 (Acoustic Anomaly), w_p = 10 (Prosody), w_c = 10 (Action Sensitivity).</a:t>
            </a:r>
          </a:p>
        </p:txBody>
      </p:sp>
      <p:sp>
        <p:nvSpPr>
          <p:cNvPr id="9" name="Rounded Rectangle 8"/>
          <p:cNvSpPr/>
          <p:nvPr/>
        </p:nvSpPr>
        <p:spPr>
          <a:xfrm>
            <a:off x="731520" y="3383280"/>
            <a:ext cx="3383280" cy="283464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566160"/>
            <a:ext cx="2926080" cy="365760"/>
          </a:xfrm>
          <a:prstGeom prst="rect">
            <a:avLst/>
          </a:prstGeom>
          <a:noFill/>
        </p:spPr>
        <p:txBody>
          <a:bodyPr wrap="square" lIns="0" tIns="0" rIns="0" bIns="0">
            <a:spAutoFit/>
          </a:bodyPr>
          <a:lstStyle/>
          <a:p>
            <a:pPr>
              <a:defRPr sz="1300" b="1">
                <a:solidFill>
                  <a:srgbClr val="10B981"/>
                </a:solidFill>
              </a:defRPr>
            </a:pPr>
            <a:r>
              <a:t>LOW RISK (0 – 39)</a:t>
            </a:r>
          </a:p>
        </p:txBody>
      </p:sp>
      <p:sp>
        <p:nvSpPr>
          <p:cNvPr id="11" name="TextBox 10"/>
          <p:cNvSpPr txBox="1"/>
          <p:nvPr/>
        </p:nvSpPr>
        <p:spPr>
          <a:xfrm>
            <a:off x="914400" y="3840480"/>
            <a:ext cx="3017520" cy="2194560"/>
          </a:xfrm>
          <a:prstGeom prst="rect">
            <a:avLst/>
          </a:prstGeom>
          <a:noFill/>
        </p:spPr>
        <p:txBody>
          <a:bodyPr wrap="square">
            <a:spAutoFit/>
          </a:bodyPr>
          <a:lstStyle/>
          <a:p>
            <a:pPr>
              <a:spcAft>
                <a:spcPts val="800"/>
              </a:spcAft>
              <a:defRPr b="1" sz="1000">
                <a:solidFill>
                  <a:srgbClr val="10B981"/>
                </a:solidFill>
              </a:defRPr>
            </a:pPr>
            <a:r>
              <a:t>POLICY GATE: ALLOW</a:t>
            </a:r>
          </a:p>
          <a:p>
            <a:pPr>
              <a:spcAft>
                <a:spcPts val="400"/>
              </a:spcAft>
              <a:defRPr sz="900">
                <a:solidFill>
                  <a:srgbClr val="94A3B8"/>
                </a:solidFill>
              </a:defRPr>
            </a:pPr>
            <a:r>
              <a:t>• Acoustic biometrics confirm authorized speaker.</a:t>
            </a:r>
          </a:p>
          <a:p>
            <a:pPr>
              <a:spcAft>
                <a:spcPts val="400"/>
              </a:spcAft>
              <a:defRPr sz="900">
                <a:solidFill>
                  <a:srgbClr val="94A3B8"/>
                </a:solidFill>
              </a:defRPr>
            </a:pPr>
            <a:r>
              <a:t>• Zero neural vocoder phase artifacts detected.</a:t>
            </a:r>
          </a:p>
          <a:p>
            <a:pPr>
              <a:spcAft>
                <a:spcPts val="400"/>
              </a:spcAft>
              <a:defRPr sz="900">
                <a:solidFill>
                  <a:srgbClr val="94A3B8"/>
                </a:solidFill>
              </a:defRPr>
            </a:pPr>
            <a:r>
              <a:t>• Speech cadence matches authentic baseline.</a:t>
            </a:r>
          </a:p>
          <a:p>
            <a:pPr>
              <a:spcAft>
                <a:spcPts val="400"/>
              </a:spcAft>
              <a:defRPr sz="900">
                <a:solidFill>
                  <a:srgbClr val="94A3B8"/>
                </a:solidFill>
              </a:defRPr>
            </a:pPr>
            <a:r>
              <a:t>• Action: Seamless pass-through; continuous background telemetry.</a:t>
            </a:r>
          </a:p>
        </p:txBody>
      </p:sp>
      <p:sp>
        <p:nvSpPr>
          <p:cNvPr id="12" name="Rounded Rectangle 11"/>
          <p:cNvSpPr/>
          <p:nvPr/>
        </p:nvSpPr>
        <p:spPr>
          <a:xfrm>
            <a:off x="4389120" y="3383280"/>
            <a:ext cx="3383280" cy="283464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3566160"/>
            <a:ext cx="2926080" cy="365760"/>
          </a:xfrm>
          <a:prstGeom prst="rect">
            <a:avLst/>
          </a:prstGeom>
          <a:noFill/>
        </p:spPr>
        <p:txBody>
          <a:bodyPr wrap="square" lIns="0" tIns="0" rIns="0" bIns="0">
            <a:spAutoFit/>
          </a:bodyPr>
          <a:lstStyle/>
          <a:p>
            <a:pPr>
              <a:defRPr sz="1300" b="1">
                <a:solidFill>
                  <a:srgbClr val="F59E0B"/>
                </a:solidFill>
              </a:defRPr>
            </a:pPr>
            <a:r>
              <a:t>MODERATE RISK (40 – 69)</a:t>
            </a:r>
          </a:p>
        </p:txBody>
      </p:sp>
      <p:sp>
        <p:nvSpPr>
          <p:cNvPr id="14" name="TextBox 13"/>
          <p:cNvSpPr txBox="1"/>
          <p:nvPr/>
        </p:nvSpPr>
        <p:spPr>
          <a:xfrm>
            <a:off x="4572000" y="3840480"/>
            <a:ext cx="3017520" cy="2194560"/>
          </a:xfrm>
          <a:prstGeom prst="rect">
            <a:avLst/>
          </a:prstGeom>
          <a:noFill/>
        </p:spPr>
        <p:txBody>
          <a:bodyPr wrap="square">
            <a:spAutoFit/>
          </a:bodyPr>
          <a:lstStyle/>
          <a:p>
            <a:pPr>
              <a:spcAft>
                <a:spcPts val="800"/>
              </a:spcAft>
              <a:defRPr b="1" sz="1000">
                <a:solidFill>
                  <a:srgbClr val="F59E0B"/>
                </a:solidFill>
              </a:defRPr>
            </a:pPr>
            <a:r>
              <a:t>POLICY GATE: ADDITIONAL_VERIFICATION</a:t>
            </a:r>
          </a:p>
          <a:p>
            <a:pPr>
              <a:spcAft>
                <a:spcPts val="400"/>
              </a:spcAft>
              <a:defRPr sz="900">
                <a:solidFill>
                  <a:srgbClr val="94A3B8"/>
                </a:solidFill>
              </a:defRPr>
            </a:pPr>
            <a:r>
              <a:t>• Minor acoustic discrepancy or moderate vocoder anomaly.</a:t>
            </a:r>
          </a:p>
          <a:p>
            <a:pPr>
              <a:spcAft>
                <a:spcPts val="400"/>
              </a:spcAft>
              <a:defRPr sz="900">
                <a:solidFill>
                  <a:srgbClr val="94A3B8"/>
                </a:solidFill>
              </a:defRPr>
            </a:pPr>
            <a:r>
              <a:t>• Biometric confidence is marginal (borderline similarity).</a:t>
            </a:r>
          </a:p>
          <a:p>
            <a:pPr>
              <a:spcAft>
                <a:spcPts val="400"/>
              </a:spcAft>
              <a:defRPr sz="900">
                <a:solidFill>
                  <a:srgbClr val="94A3B8"/>
                </a:solidFill>
              </a:defRPr>
            </a:pPr>
            <a:r>
              <a:t>• Elevated sensitivity action requested.</a:t>
            </a:r>
          </a:p>
          <a:p>
            <a:pPr>
              <a:spcAft>
                <a:spcPts val="400"/>
              </a:spcAft>
              <a:defRPr sz="900">
                <a:solidFill>
                  <a:srgbClr val="94A3B8"/>
                </a:solidFill>
              </a:defRPr>
            </a:pPr>
            <a:r>
              <a:t>• Action: Out-of-band MFA push notification, TOTP or challenge phrase prompt.</a:t>
            </a:r>
          </a:p>
        </p:txBody>
      </p:sp>
      <p:sp>
        <p:nvSpPr>
          <p:cNvPr id="15" name="Rounded Rectangle 14"/>
          <p:cNvSpPr/>
          <p:nvPr/>
        </p:nvSpPr>
        <p:spPr>
          <a:xfrm>
            <a:off x="8046720" y="3383280"/>
            <a:ext cx="3383280" cy="283464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3566160"/>
            <a:ext cx="2926080" cy="365760"/>
          </a:xfrm>
          <a:prstGeom prst="rect">
            <a:avLst/>
          </a:prstGeom>
          <a:noFill/>
        </p:spPr>
        <p:txBody>
          <a:bodyPr wrap="square" lIns="0" tIns="0" rIns="0" bIns="0">
            <a:spAutoFit/>
          </a:bodyPr>
          <a:lstStyle/>
          <a:p>
            <a:pPr>
              <a:defRPr sz="1300" b="1">
                <a:solidFill>
                  <a:srgbClr val="EF4444"/>
                </a:solidFill>
              </a:defRPr>
            </a:pPr>
            <a:r>
              <a:t>CRITICAL THREAT (70 – 100)</a:t>
            </a:r>
          </a:p>
        </p:txBody>
      </p:sp>
      <p:sp>
        <p:nvSpPr>
          <p:cNvPr id="17" name="TextBox 16"/>
          <p:cNvSpPr txBox="1"/>
          <p:nvPr/>
        </p:nvSpPr>
        <p:spPr>
          <a:xfrm>
            <a:off x="8229600" y="3840480"/>
            <a:ext cx="3017520" cy="2194560"/>
          </a:xfrm>
          <a:prstGeom prst="rect">
            <a:avLst/>
          </a:prstGeom>
          <a:noFill/>
        </p:spPr>
        <p:txBody>
          <a:bodyPr wrap="square">
            <a:spAutoFit/>
          </a:bodyPr>
          <a:lstStyle/>
          <a:p>
            <a:pPr>
              <a:spcAft>
                <a:spcPts val="800"/>
              </a:spcAft>
              <a:defRPr b="1" sz="1000">
                <a:solidFill>
                  <a:srgbClr val="EF4444"/>
                </a:solidFill>
              </a:defRPr>
            </a:pPr>
            <a:r>
              <a:t>POLICY GATE: HOLD_SENSITIVE_ACTION</a:t>
            </a:r>
          </a:p>
          <a:p>
            <a:pPr>
              <a:spcAft>
                <a:spcPts val="400"/>
              </a:spcAft>
              <a:defRPr sz="900">
                <a:solidFill>
                  <a:srgbClr val="94A3B8"/>
                </a:solidFill>
              </a:defRPr>
            </a:pPr>
            <a:r>
              <a:t>• Strong neural synthetic audio signature detected.</a:t>
            </a:r>
          </a:p>
          <a:p>
            <a:pPr>
              <a:spcAft>
                <a:spcPts val="400"/>
              </a:spcAft>
              <a:defRPr sz="900">
                <a:solidFill>
                  <a:srgbClr val="94A3B8"/>
                </a:solidFill>
              </a:defRPr>
            </a:pPr>
            <a:r>
              <a:t>• Severe biometric speaker mismatch.</a:t>
            </a:r>
          </a:p>
          <a:p>
            <a:pPr>
              <a:spcAft>
                <a:spcPts val="400"/>
              </a:spcAft>
              <a:defRPr sz="900">
                <a:solidFill>
                  <a:srgbClr val="94A3B8"/>
                </a:solidFill>
              </a:defRPr>
            </a:pPr>
            <a:r>
              <a:t>• High-value financial or credential authorization attempted.</a:t>
            </a:r>
          </a:p>
          <a:p>
            <a:pPr>
              <a:spcAft>
                <a:spcPts val="400"/>
              </a:spcAft>
              <a:defRPr sz="900">
                <a:solidFill>
                  <a:srgbClr val="94A3B8"/>
                </a:solidFill>
              </a:defRPr>
            </a:pPr>
            <a:r>
              <a:t>• Action: Immediate transaction freeze, security webhook dispatch, SOC alert.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PREVENTATIVE POLICY GATE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Automated Action Escalation &amp; Downstream Integration</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Zero-latency webhook enforcement stopping financial fraud and unauthorized credential manipulation.</a:t>
            </a:r>
          </a:p>
        </p:txBody>
      </p:sp>
      <p:sp>
        <p:nvSpPr>
          <p:cNvPr id="6" name="Rounded Rectangle 5"/>
          <p:cNvSpPr/>
          <p:nvPr/>
        </p:nvSpPr>
        <p:spPr>
          <a:xfrm>
            <a:off x="731520" y="1737360"/>
            <a:ext cx="54864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5029200" cy="365760"/>
          </a:xfrm>
          <a:prstGeom prst="rect">
            <a:avLst/>
          </a:prstGeom>
          <a:noFill/>
        </p:spPr>
        <p:txBody>
          <a:bodyPr wrap="square" lIns="0" tIns="0" rIns="0" bIns="0">
            <a:spAutoFit/>
          </a:bodyPr>
          <a:lstStyle/>
          <a:p>
            <a:pPr>
              <a:defRPr sz="1300" b="1">
                <a:solidFill>
                  <a:srgbClr val="0EA5E9"/>
                </a:solidFill>
              </a:defRPr>
            </a:pPr>
            <a:r>
              <a:t>Enforcement Workflow Architecture</a:t>
            </a:r>
          </a:p>
        </p:txBody>
      </p:sp>
      <p:sp>
        <p:nvSpPr>
          <p:cNvPr id="8" name="TextBox 7"/>
          <p:cNvSpPr txBox="1"/>
          <p:nvPr/>
        </p:nvSpPr>
        <p:spPr>
          <a:xfrm>
            <a:off x="960120" y="2240280"/>
            <a:ext cx="5029200" cy="3749039"/>
          </a:xfrm>
          <a:prstGeom prst="rect">
            <a:avLst/>
          </a:prstGeom>
          <a:noFill/>
        </p:spPr>
        <p:txBody>
          <a:bodyPr wrap="square">
            <a:spAutoFit/>
          </a:bodyPr>
          <a:lstStyle/>
          <a:p>
            <a:pPr>
              <a:defRPr b="1" sz="1000">
                <a:solidFill>
                  <a:srgbClr val="F8FAFC"/>
                </a:solidFill>
              </a:defRPr>
            </a:pPr>
            <a:r>
              <a:t>Step 1: Continuous Stream Evaluation</a:t>
            </a:r>
          </a:p>
          <a:p>
            <a:pPr>
              <a:spcAft>
                <a:spcPts val="600"/>
              </a:spcAft>
              <a:defRPr sz="900">
                <a:solidFill>
                  <a:srgbClr val="94A3B8"/>
                </a:solidFill>
              </a:defRPr>
            </a:pPr>
            <a:r>
              <a:t>VoiceGuard listens to the audio stream without blocking caller dialogue. Every 500ms, the risk score is recalculated.</a:t>
            </a:r>
          </a:p>
          <a:p>
            <a:pPr>
              <a:defRPr b="1" sz="1000">
                <a:solidFill>
                  <a:srgbClr val="F8FAFC"/>
                </a:solidFill>
              </a:defRPr>
            </a:pPr>
            <a:r>
              <a:t>Step 2: Action Trigger Detection</a:t>
            </a:r>
          </a:p>
          <a:p>
            <a:pPr>
              <a:spcAft>
                <a:spcPts val="600"/>
              </a:spcAft>
              <a:defRPr sz="900">
                <a:solidFill>
                  <a:srgbClr val="94A3B8"/>
                </a:solidFill>
              </a:defRPr>
            </a:pPr>
            <a:r>
              <a:t>The system correlates the voice stream with enterprise transaction intent (via Core Banking API / CRM / Helpdesk ticket context).</a:t>
            </a:r>
          </a:p>
          <a:p>
            <a:pPr>
              <a:defRPr b="1" sz="1000">
                <a:solidFill>
                  <a:srgbClr val="F8FAFC"/>
                </a:solidFill>
              </a:defRPr>
            </a:pPr>
            <a:r>
              <a:t>Step 3: Autonomous Gate Evaluation</a:t>
            </a:r>
          </a:p>
          <a:p>
            <a:pPr>
              <a:spcAft>
                <a:spcPts val="600"/>
              </a:spcAft>
              <a:defRPr sz="900">
                <a:solidFill>
                  <a:srgbClr val="94A3B8"/>
                </a:solidFill>
              </a:defRPr>
            </a:pPr>
            <a:r>
              <a:t>The Policy Engine checks: Does ImpersonationScore &gt;= PolicyThreshold for this Action Tier?</a:t>
            </a:r>
          </a:p>
          <a:p>
            <a:pPr>
              <a:defRPr b="1" sz="1000">
                <a:solidFill>
                  <a:srgbClr val="F8FAFC"/>
                </a:solidFill>
              </a:defRPr>
            </a:pPr>
            <a:r>
              <a:t>Step 4: Synchronous Webhook Dispatch</a:t>
            </a:r>
          </a:p>
          <a:p>
            <a:pPr>
              <a:spcAft>
                <a:spcPts val="600"/>
              </a:spcAft>
              <a:defRPr sz="900">
                <a:solidFill>
                  <a:srgbClr val="94A3B8"/>
                </a:solidFill>
              </a:defRPr>
            </a:pPr>
            <a:r>
              <a:t>If risk is critical, VoiceGuard dispatches an atomic HTTP POST / gRPC payload: {"action": "HOLD_SENSITIVE_ACTION", "call_id": "...", "threat_score": 86}.</a:t>
            </a:r>
          </a:p>
          <a:p>
            <a:pPr>
              <a:defRPr b="1" sz="1000">
                <a:solidFill>
                  <a:srgbClr val="F8FAFC"/>
                </a:solidFill>
              </a:defRPr>
            </a:pPr>
            <a:r>
              <a:t>Step 5: Immediate Transaction Freeze</a:t>
            </a:r>
          </a:p>
          <a:p>
            <a:pPr>
              <a:defRPr sz="900">
                <a:solidFill>
                  <a:srgbClr val="94A3B8"/>
                </a:solidFill>
              </a:defRPr>
            </a:pPr>
            <a:r>
              <a:t>The downstream banking switch or IAM system suspends execution, requiring dual-custody supervisor approval.</a:t>
            </a:r>
          </a:p>
        </p:txBody>
      </p:sp>
      <p:sp>
        <p:nvSpPr>
          <p:cNvPr id="9" name="Rounded Rectangle 8"/>
          <p:cNvSpPr/>
          <p:nvPr/>
        </p:nvSpPr>
        <p:spPr>
          <a:xfrm>
            <a:off x="6492240" y="1737360"/>
            <a:ext cx="493776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1920240"/>
            <a:ext cx="4480560" cy="365760"/>
          </a:xfrm>
          <a:prstGeom prst="rect">
            <a:avLst/>
          </a:prstGeom>
          <a:noFill/>
        </p:spPr>
        <p:txBody>
          <a:bodyPr wrap="square" lIns="0" tIns="0" rIns="0" bIns="0">
            <a:spAutoFit/>
          </a:bodyPr>
          <a:lstStyle/>
          <a:p>
            <a:pPr>
              <a:defRPr sz="1300" b="1">
                <a:solidFill>
                  <a:srgbClr val="14B8A6"/>
                </a:solidFill>
              </a:defRPr>
            </a:pPr>
            <a:r>
              <a:t>Target Enterprise Integration Points</a:t>
            </a:r>
          </a:p>
        </p:txBody>
      </p:sp>
      <p:sp>
        <p:nvSpPr>
          <p:cNvPr id="11" name="TextBox 10"/>
          <p:cNvSpPr txBox="1"/>
          <p:nvPr/>
        </p:nvSpPr>
        <p:spPr>
          <a:xfrm>
            <a:off x="6720840" y="2240280"/>
            <a:ext cx="4480560" cy="3749039"/>
          </a:xfrm>
          <a:prstGeom prst="rect">
            <a:avLst/>
          </a:prstGeom>
          <a:noFill/>
        </p:spPr>
        <p:txBody>
          <a:bodyPr wrap="square">
            <a:spAutoFit/>
          </a:bodyPr>
          <a:lstStyle/>
          <a:p>
            <a:pPr>
              <a:defRPr b="1" sz="1000">
                <a:solidFill>
                  <a:srgbClr val="F8FAFC"/>
                </a:solidFill>
              </a:defRPr>
            </a:pPr>
            <a:r>
              <a:t>Core Banking &amp; UPI Payment Switches</a:t>
            </a:r>
          </a:p>
          <a:p>
            <a:pPr>
              <a:spcAft>
                <a:spcPts val="800"/>
              </a:spcAft>
              <a:defRPr sz="900">
                <a:solidFill>
                  <a:srgbClr val="94A3B8"/>
                </a:solidFill>
              </a:defRPr>
            </a:pPr>
            <a:r>
              <a:t>Binds to transaction authorization queues (ISO 8583 / ISO 20022 message gateways). Freezes debit settlement before funds leave the institution.</a:t>
            </a:r>
          </a:p>
          <a:p>
            <a:pPr>
              <a:defRPr b="1" sz="1000">
                <a:solidFill>
                  <a:srgbClr val="F8FAFC"/>
                </a:solidFill>
              </a:defRPr>
            </a:pPr>
            <a:r>
              <a:t>Enterprise IAM &amp; Service Desks (Okta, Active Directory)</a:t>
            </a:r>
          </a:p>
          <a:p>
            <a:pPr>
              <a:spcAft>
                <a:spcPts val="800"/>
              </a:spcAft>
              <a:defRPr sz="900">
                <a:solidFill>
                  <a:srgbClr val="94A3B8"/>
                </a:solidFill>
              </a:defRPr>
            </a:pPr>
            <a:r>
              <a:t>Hooks into password reset and MFA token seed provisioning workflows. Intercepts voice-authorized credential overrides.</a:t>
            </a:r>
          </a:p>
          <a:p>
            <a:pPr>
              <a:defRPr b="1" sz="1000">
                <a:solidFill>
                  <a:srgbClr val="F8FAFC"/>
                </a:solidFill>
              </a:defRPr>
            </a:pPr>
            <a:r>
              <a:t>Executive Communications &amp; Video Conferencing</a:t>
            </a:r>
          </a:p>
          <a:p>
            <a:pPr>
              <a:spcAft>
                <a:spcPts val="800"/>
              </a:spcAft>
              <a:defRPr sz="900">
                <a:solidFill>
                  <a:srgbClr val="94A3B8"/>
                </a:solidFill>
              </a:defRPr>
            </a:pPr>
            <a:r>
              <a:t>Taps Zoom / Teams / WebRTC conference audio, providing real-time HUD threat alerts to finance teams during sensitive board meetings.</a:t>
            </a:r>
          </a:p>
          <a:p>
            <a:pPr>
              <a:defRPr b="1" sz="1000">
                <a:solidFill>
                  <a:srgbClr val="F8FAFC"/>
                </a:solidFill>
              </a:defRPr>
            </a:pPr>
            <a:r>
              <a:t>Public Safety &amp; 911/112 Dispatch Systems</a:t>
            </a:r>
          </a:p>
          <a:p>
            <a:pPr>
              <a:defRPr sz="900">
                <a:solidFill>
                  <a:srgbClr val="94A3B8"/>
                </a:solidFill>
              </a:defRPr>
            </a:pPr>
            <a:r>
              <a:t>Validates the authenticity of distress calls and emergency command transmissions to prevent SWATting and municipal panic attacks.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FORENSIC INTEGRITY &amp; AUDIT ARCHITECTURE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Tamper-Evident SHA-256 State Chain Ledger</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Ensuring verifiable non-repudiation and regulatory compliance without external blockchain overhead.</a:t>
            </a:r>
          </a:p>
        </p:txBody>
      </p:sp>
      <p:sp>
        <p:nvSpPr>
          <p:cNvPr id="6" name="Rounded Rectangle 5"/>
          <p:cNvSpPr/>
          <p:nvPr/>
        </p:nvSpPr>
        <p:spPr>
          <a:xfrm>
            <a:off x="7315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926080" cy="365760"/>
          </a:xfrm>
          <a:prstGeom prst="rect">
            <a:avLst/>
          </a:prstGeom>
          <a:noFill/>
        </p:spPr>
        <p:txBody>
          <a:bodyPr wrap="square" lIns="0" tIns="0" rIns="0" bIns="0">
            <a:spAutoFit/>
          </a:bodyPr>
          <a:lstStyle/>
          <a:p>
            <a:pPr>
              <a:defRPr sz="1300" b="1">
                <a:solidFill>
                  <a:srgbClr val="F59E0B"/>
                </a:solidFill>
              </a:defRPr>
            </a:pPr>
            <a:r>
              <a:t>1. Cryptographic Hash Chain</a:t>
            </a:r>
          </a:p>
        </p:txBody>
      </p:sp>
      <p:sp>
        <p:nvSpPr>
          <p:cNvPr id="8" name="TextBox 7"/>
          <p:cNvSpPr txBox="1"/>
          <p:nvPr/>
        </p:nvSpPr>
        <p:spPr>
          <a:xfrm>
            <a:off x="960120" y="2240280"/>
            <a:ext cx="2926080" cy="3749039"/>
          </a:xfrm>
          <a:prstGeom prst="rect">
            <a:avLst/>
          </a:prstGeom>
          <a:noFill/>
        </p:spPr>
        <p:txBody>
          <a:bodyPr wrap="square">
            <a:spAutoFit/>
          </a:bodyPr>
          <a:lstStyle/>
          <a:p>
            <a:pPr>
              <a:defRPr b="1" sz="1000">
                <a:solidFill>
                  <a:srgbClr val="F8FAFC"/>
                </a:solidFill>
              </a:defRPr>
            </a:pPr>
            <a:r>
              <a:t>Block Formula</a:t>
            </a:r>
          </a:p>
          <a:p>
            <a:pPr>
              <a:spcAft>
                <a:spcPts val="800"/>
              </a:spcAft>
              <a:defRPr sz="900">
                <a:solidFill>
                  <a:srgbClr val="94A3B8"/>
                </a:solidFill>
              </a:defRPr>
            </a:pPr>
            <a:r>
              <a:t>Hash_i = SHA-256 ( Hash_{i-1} || Call_ID || Timestamp || Score || PolicyDecision )</a:t>
            </a:r>
          </a:p>
          <a:p>
            <a:pPr>
              <a:defRPr b="1" sz="1000">
                <a:solidFill>
                  <a:srgbClr val="F8FAFC"/>
                </a:solidFill>
              </a:defRPr>
            </a:pPr>
            <a:r>
              <a:t>Strict Linearity</a:t>
            </a:r>
          </a:p>
          <a:p>
            <a:pPr>
              <a:spcAft>
                <a:spcPts val="800"/>
              </a:spcAft>
              <a:defRPr sz="900">
                <a:solidFill>
                  <a:srgbClr val="94A3B8"/>
                </a:solidFill>
              </a:defRPr>
            </a:pPr>
            <a:r>
              <a:t>Each audit entry cryptographically seals the entire prior history of decisions for that call session.</a:t>
            </a:r>
          </a:p>
          <a:p>
            <a:pPr>
              <a:defRPr b="1" sz="1000">
                <a:solidFill>
                  <a:srgbClr val="F8FAFC"/>
                </a:solidFill>
              </a:defRPr>
            </a:pPr>
            <a:r>
              <a:t>Tamper Detection</a:t>
            </a:r>
          </a:p>
          <a:p>
            <a:pPr>
              <a:spcAft>
                <a:spcPts val="800"/>
              </a:spcAft>
              <a:defRPr sz="900">
                <a:solidFill>
                  <a:srgbClr val="94A3B8"/>
                </a:solidFill>
              </a:defRPr>
            </a:pPr>
            <a:r>
              <a:t>Any retroactive modification or deletion of an audit record invalidates all subsequent hash pointers instantly.</a:t>
            </a:r>
          </a:p>
          <a:p>
            <a:pPr>
              <a:defRPr b="1" sz="1000">
                <a:solidFill>
                  <a:srgbClr val="F8FAFC"/>
                </a:solidFill>
              </a:defRPr>
            </a:pPr>
            <a:r>
              <a:t>Exportable Proof</a:t>
            </a:r>
          </a:p>
          <a:p>
            <a:pPr>
              <a:defRPr sz="900">
                <a:solidFill>
                  <a:srgbClr val="94A3B8"/>
                </a:solidFill>
              </a:defRPr>
            </a:pPr>
            <a:r>
              <a:t>Enables exporting a verifiable JSON audit certificate for court admissibility and CERT-In compliance.</a:t>
            </a:r>
          </a:p>
        </p:txBody>
      </p:sp>
      <p:sp>
        <p:nvSpPr>
          <p:cNvPr id="9" name="Rounded Rectangle 8"/>
          <p:cNvSpPr/>
          <p:nvPr/>
        </p:nvSpPr>
        <p:spPr>
          <a:xfrm>
            <a:off x="43891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920240"/>
            <a:ext cx="2926080" cy="365760"/>
          </a:xfrm>
          <a:prstGeom prst="rect">
            <a:avLst/>
          </a:prstGeom>
          <a:noFill/>
        </p:spPr>
        <p:txBody>
          <a:bodyPr wrap="square" lIns="0" tIns="0" rIns="0" bIns="0">
            <a:spAutoFit/>
          </a:bodyPr>
          <a:lstStyle/>
          <a:p>
            <a:pPr>
              <a:defRPr sz="1300" b="1">
                <a:solidFill>
                  <a:srgbClr val="0EA5E9"/>
                </a:solidFill>
              </a:defRPr>
            </a:pPr>
            <a:r>
              <a:t>2. Why NOT a Public Blockchain?</a:t>
            </a:r>
          </a:p>
        </p:txBody>
      </p:sp>
      <p:sp>
        <p:nvSpPr>
          <p:cNvPr id="11" name="TextBox 10"/>
          <p:cNvSpPr txBox="1"/>
          <p:nvPr/>
        </p:nvSpPr>
        <p:spPr>
          <a:xfrm>
            <a:off x="4617720" y="2240280"/>
            <a:ext cx="2926080" cy="3749039"/>
          </a:xfrm>
          <a:prstGeom prst="rect">
            <a:avLst/>
          </a:prstGeom>
          <a:noFill/>
        </p:spPr>
        <p:txBody>
          <a:bodyPr wrap="square">
            <a:spAutoFit/>
          </a:bodyPr>
          <a:lstStyle/>
          <a:p>
            <a:pPr>
              <a:defRPr b="1" sz="1000">
                <a:solidFill>
                  <a:srgbClr val="F8FAFC"/>
                </a:solidFill>
              </a:defRPr>
            </a:pPr>
            <a:r>
              <a:t>Zero Consensus Latency</a:t>
            </a:r>
          </a:p>
          <a:p>
            <a:pPr>
              <a:spcAft>
                <a:spcPts val="600"/>
              </a:spcAft>
              <a:defRPr sz="900">
                <a:solidFill>
                  <a:srgbClr val="94A3B8"/>
                </a:solidFill>
              </a:defRPr>
            </a:pPr>
            <a:r>
              <a:t>Public blockchains require 2 to 15 seconds for block inclusion. VoiceGuard requires sub-millisecond local hash writes.</a:t>
            </a:r>
          </a:p>
          <a:p>
            <a:pPr>
              <a:defRPr b="1" sz="1000">
                <a:solidFill>
                  <a:srgbClr val="F8FAFC"/>
                </a:solidFill>
              </a:defRPr>
            </a:pPr>
            <a:r>
              <a:t>Zero Gas Costs</a:t>
            </a:r>
          </a:p>
          <a:p>
            <a:pPr>
              <a:spcAft>
                <a:spcPts val="600"/>
              </a:spcAft>
              <a:defRPr sz="900">
                <a:solidFill>
                  <a:srgbClr val="94A3B8"/>
                </a:solidFill>
              </a:defRPr>
            </a:pPr>
            <a:r>
              <a:t>Eliminates financial overhead per transaction. Logging 500,000 voice sessions/month on public chains is commercially unviable.</a:t>
            </a:r>
          </a:p>
          <a:p>
            <a:pPr>
              <a:defRPr b="1" sz="1000">
                <a:solidFill>
                  <a:srgbClr val="F8FAFC"/>
                </a:solidFill>
              </a:defRPr>
            </a:pPr>
            <a:r>
              <a:t>Regulatory Data Privacy</a:t>
            </a:r>
          </a:p>
          <a:p>
            <a:pPr>
              <a:spcAft>
                <a:spcPts val="600"/>
              </a:spcAft>
              <a:defRPr sz="900">
                <a:solidFill>
                  <a:srgbClr val="94A3B8"/>
                </a:solidFill>
              </a:defRPr>
            </a:pPr>
            <a:r>
              <a:t>Public chains are immutable and globally readable. Under DPDPA / GDPR, audit data containing session metadata cannot be published to a public ledger.</a:t>
            </a:r>
          </a:p>
          <a:p>
            <a:pPr>
              <a:defRPr b="1" sz="1000">
                <a:solidFill>
                  <a:srgbClr val="F8FAFC"/>
                </a:solidFill>
              </a:defRPr>
            </a:pPr>
            <a:r>
              <a:t>Enterprise Architecture</a:t>
            </a:r>
          </a:p>
          <a:p>
            <a:pPr>
              <a:defRPr sz="900">
                <a:solidFill>
                  <a:srgbClr val="94A3B8"/>
                </a:solidFill>
              </a:defRPr>
            </a:pPr>
            <a:r>
              <a:t>Local cryptographic hash chains provide the exact same mathematical non-repudiation with 10,000x the throughput.</a:t>
            </a:r>
          </a:p>
        </p:txBody>
      </p:sp>
      <p:sp>
        <p:nvSpPr>
          <p:cNvPr id="12" name="Rounded Rectangle 11"/>
          <p:cNvSpPr/>
          <p:nvPr/>
        </p:nvSpPr>
        <p:spPr>
          <a:xfrm>
            <a:off x="80467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920240"/>
            <a:ext cx="2926080" cy="365760"/>
          </a:xfrm>
          <a:prstGeom prst="rect">
            <a:avLst/>
          </a:prstGeom>
          <a:noFill/>
        </p:spPr>
        <p:txBody>
          <a:bodyPr wrap="square" lIns="0" tIns="0" rIns="0" bIns="0">
            <a:spAutoFit/>
          </a:bodyPr>
          <a:lstStyle/>
          <a:p>
            <a:pPr>
              <a:defRPr sz="1300" b="1">
                <a:solidFill>
                  <a:srgbClr val="10B981"/>
                </a:solidFill>
              </a:defRPr>
            </a:pPr>
            <a:r>
              <a:t>3. Forensic Audit Capabilities</a:t>
            </a:r>
          </a:p>
        </p:txBody>
      </p:sp>
      <p:sp>
        <p:nvSpPr>
          <p:cNvPr id="14" name="TextBox 13"/>
          <p:cNvSpPr txBox="1"/>
          <p:nvPr/>
        </p:nvSpPr>
        <p:spPr>
          <a:xfrm>
            <a:off x="8275320" y="2240280"/>
            <a:ext cx="2926080" cy="3749039"/>
          </a:xfrm>
          <a:prstGeom prst="rect">
            <a:avLst/>
          </a:prstGeom>
          <a:noFill/>
        </p:spPr>
        <p:txBody>
          <a:bodyPr wrap="square">
            <a:spAutoFit/>
          </a:bodyPr>
          <a:lstStyle/>
          <a:p>
            <a:pPr>
              <a:defRPr b="1" sz="1000">
                <a:solidFill>
                  <a:srgbClr val="F8FAFC"/>
                </a:solidFill>
              </a:defRPr>
            </a:pPr>
            <a:r>
              <a:t>Immutable Incident Timeline</a:t>
            </a:r>
          </a:p>
          <a:p>
            <a:pPr>
              <a:spcAft>
                <a:spcPts val="800"/>
              </a:spcAft>
              <a:defRPr sz="900">
                <a:solidFill>
                  <a:srgbClr val="94A3B8"/>
                </a:solidFill>
              </a:defRPr>
            </a:pPr>
            <a:r>
              <a:t>Precise millisecond-accurate log of when impersonation signals spiked and when the policy gate intervened.</a:t>
            </a:r>
          </a:p>
          <a:p>
            <a:pPr>
              <a:defRPr b="1" sz="1000">
                <a:solidFill>
                  <a:srgbClr val="F8FAFC"/>
                </a:solidFill>
              </a:defRPr>
            </a:pPr>
            <a:r>
              <a:t>Non-Repudiation for Legal Action</a:t>
            </a:r>
          </a:p>
          <a:p>
            <a:pPr>
              <a:spcAft>
                <a:spcPts val="800"/>
              </a:spcAft>
              <a:defRPr sz="900">
                <a:solidFill>
                  <a:srgbClr val="94A3B8"/>
                </a:solidFill>
              </a:defRPr>
            </a:pPr>
            <a:r>
              <a:t>Provides irrefutable mathematical evidence to dispute unauthorized banking chargebacks and wire fraud lawsuits.</a:t>
            </a:r>
          </a:p>
          <a:p>
            <a:pPr>
              <a:defRPr b="1" sz="1000">
                <a:solidFill>
                  <a:srgbClr val="F8FAFC"/>
                </a:solidFill>
              </a:defRPr>
            </a:pPr>
            <a:r>
              <a:t>SOC Incident Integration</a:t>
            </a:r>
          </a:p>
          <a:p>
            <a:pPr>
              <a:spcAft>
                <a:spcPts val="800"/>
              </a:spcAft>
              <a:defRPr sz="900">
                <a:solidFill>
                  <a:srgbClr val="94A3B8"/>
                </a:solidFill>
              </a:defRPr>
            </a:pPr>
            <a:r>
              <a:t>Automated export to enterprise SIEM platforms (Splunk, Elastic, Microsoft Sentinel) via structured JSON-LD logs.</a:t>
            </a:r>
          </a:p>
          <a:p>
            <a:pPr>
              <a:defRPr b="1" sz="1000">
                <a:solidFill>
                  <a:srgbClr val="F8FAFC"/>
                </a:solidFill>
              </a:defRPr>
            </a:pPr>
            <a:r>
              <a:t>Automated Integrity Verification</a:t>
            </a:r>
          </a:p>
          <a:p>
            <a:pPr>
              <a:defRPr sz="900">
                <a:solidFill>
                  <a:srgbClr val="94A3B8"/>
                </a:solidFill>
              </a:defRPr>
            </a:pPr>
            <a:r>
              <a:t>Single-command SHA-256 chain verification tool validates whole-table cryptographic continuity.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PRIVACY, GOVERNANCE &amp; COMPLIANCE</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Privacy-by-Design and Zero-Knowledge Architecture</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Engineered to satisfy DPDPA 2023, GDPR Art. 9, and strict enterprise confidentiality mandates.</a:t>
            </a:r>
          </a:p>
        </p:txBody>
      </p:sp>
      <p:sp>
        <p:nvSpPr>
          <p:cNvPr id="6" name="Rounded Rectangle 5"/>
          <p:cNvSpPr/>
          <p:nvPr/>
        </p:nvSpPr>
        <p:spPr>
          <a:xfrm>
            <a:off x="7315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057400" cy="365760"/>
          </a:xfrm>
          <a:prstGeom prst="rect">
            <a:avLst/>
          </a:prstGeom>
          <a:noFill/>
        </p:spPr>
        <p:txBody>
          <a:bodyPr wrap="square" lIns="0" tIns="0" rIns="0" bIns="0">
            <a:spAutoFit/>
          </a:bodyPr>
          <a:lstStyle/>
          <a:p>
            <a:pPr>
              <a:defRPr sz="1300" b="1">
                <a:solidFill>
                  <a:srgbClr val="0EA5E9"/>
                </a:solidFill>
              </a:defRPr>
            </a:pPr>
            <a:r>
              <a:t>1. Ephemeral Streaming</a:t>
            </a:r>
          </a:p>
        </p:txBody>
      </p:sp>
      <p:sp>
        <p:nvSpPr>
          <p:cNvPr id="8" name="TextBox 7"/>
          <p:cNvSpPr txBox="1"/>
          <p:nvPr/>
        </p:nvSpPr>
        <p:spPr>
          <a:xfrm>
            <a:off x="896112" y="2240280"/>
            <a:ext cx="2194560" cy="3749039"/>
          </a:xfrm>
          <a:prstGeom prst="rect">
            <a:avLst/>
          </a:prstGeom>
          <a:noFill/>
        </p:spPr>
        <p:txBody>
          <a:bodyPr wrap="square">
            <a:spAutoFit/>
          </a:bodyPr>
          <a:lstStyle/>
          <a:p>
            <a:pPr>
              <a:defRPr b="1" sz="1000">
                <a:solidFill>
                  <a:srgbClr val="F8FAFC"/>
                </a:solidFill>
              </a:defRPr>
            </a:pPr>
            <a:r>
              <a:t>No Raw Audio Retention</a:t>
            </a:r>
          </a:p>
          <a:p>
            <a:pPr>
              <a:spcAft>
                <a:spcPts val="1200"/>
              </a:spcAft>
              <a:defRPr sz="900">
                <a:solidFill>
                  <a:srgbClr val="94A3B8"/>
                </a:solidFill>
              </a:defRPr>
            </a:pPr>
            <a:r>
              <a:t>Raw speech audio is processed in volatile RAM buffers and immediately discarded after feature extraction.</a:t>
            </a:r>
          </a:p>
          <a:p>
            <a:pPr>
              <a:defRPr b="1" sz="1000">
                <a:solidFill>
                  <a:srgbClr val="F8FAFC"/>
                </a:solidFill>
              </a:defRPr>
            </a:pPr>
            <a:r>
              <a:t>Zero Eavesdropping</a:t>
            </a:r>
          </a:p>
          <a:p>
            <a:pPr>
              <a:defRPr sz="900">
                <a:solidFill>
                  <a:srgbClr val="94A3B8"/>
                </a:solidFill>
              </a:defRPr>
            </a:pPr>
            <a:r>
              <a:t>VoiceGuard does not transcribe or store full conversational audio. It extracts acoustic and biometric mathematics, not speech transcripts.</a:t>
            </a:r>
          </a:p>
        </p:txBody>
      </p:sp>
      <p:sp>
        <p:nvSpPr>
          <p:cNvPr id="9" name="Rounded Rectangle 8"/>
          <p:cNvSpPr/>
          <p:nvPr/>
        </p:nvSpPr>
        <p:spPr>
          <a:xfrm>
            <a:off x="34747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1920240"/>
            <a:ext cx="2057400" cy="365760"/>
          </a:xfrm>
          <a:prstGeom prst="rect">
            <a:avLst/>
          </a:prstGeom>
          <a:noFill/>
        </p:spPr>
        <p:txBody>
          <a:bodyPr wrap="square" lIns="0" tIns="0" rIns="0" bIns="0">
            <a:spAutoFit/>
          </a:bodyPr>
          <a:lstStyle/>
          <a:p>
            <a:pPr>
              <a:defRPr sz="1300" b="1">
                <a:solidFill>
                  <a:srgbClr val="14B8A6"/>
                </a:solidFill>
              </a:defRPr>
            </a:pPr>
            <a:r>
              <a:t>2. Irreversible Embeddings</a:t>
            </a:r>
          </a:p>
        </p:txBody>
      </p:sp>
      <p:sp>
        <p:nvSpPr>
          <p:cNvPr id="11" name="TextBox 10"/>
          <p:cNvSpPr txBox="1"/>
          <p:nvPr/>
        </p:nvSpPr>
        <p:spPr>
          <a:xfrm>
            <a:off x="3639312" y="2240280"/>
            <a:ext cx="2194560" cy="3749039"/>
          </a:xfrm>
          <a:prstGeom prst="rect">
            <a:avLst/>
          </a:prstGeom>
          <a:noFill/>
        </p:spPr>
        <p:txBody>
          <a:bodyPr wrap="square">
            <a:spAutoFit/>
          </a:bodyPr>
          <a:lstStyle/>
          <a:p>
            <a:pPr>
              <a:defRPr b="1" sz="1000">
                <a:solidFill>
                  <a:srgbClr val="F8FAFC"/>
                </a:solidFill>
              </a:defRPr>
            </a:pPr>
            <a:r>
              <a:t>192-Dim Feature Vectors</a:t>
            </a:r>
          </a:p>
          <a:p>
            <a:pPr>
              <a:spcAft>
                <a:spcPts val="1200"/>
              </a:spcAft>
              <a:defRPr sz="900">
                <a:solidFill>
                  <a:srgbClr val="94A3B8"/>
                </a:solidFill>
              </a:defRPr>
            </a:pPr>
            <a:r>
              <a:t>Voiceprints are stored as 192-dimensional floating point embeddings, mathematically irreversible back into intelligible audio.</a:t>
            </a:r>
          </a:p>
          <a:p>
            <a:pPr>
              <a:defRPr b="1" sz="1000">
                <a:solidFill>
                  <a:srgbClr val="F8FAFC"/>
                </a:solidFill>
              </a:defRPr>
            </a:pPr>
            <a:r>
              <a:t>AES-256-GCM Encryption</a:t>
            </a:r>
          </a:p>
          <a:p>
            <a:pPr>
              <a:defRPr sz="900">
                <a:solidFill>
                  <a:srgbClr val="94A3B8"/>
                </a:solidFill>
              </a:defRPr>
            </a:pPr>
            <a:r>
              <a:t>All enrolled embeddings are encrypted at rest using enterprise KMS-managed keys.</a:t>
            </a:r>
          </a:p>
        </p:txBody>
      </p:sp>
      <p:sp>
        <p:nvSpPr>
          <p:cNvPr id="12" name="Rounded Rectangle 11"/>
          <p:cNvSpPr/>
          <p:nvPr/>
        </p:nvSpPr>
        <p:spPr>
          <a:xfrm>
            <a:off x="62179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920240"/>
            <a:ext cx="2057400" cy="365760"/>
          </a:xfrm>
          <a:prstGeom prst="rect">
            <a:avLst/>
          </a:prstGeom>
          <a:noFill/>
        </p:spPr>
        <p:txBody>
          <a:bodyPr wrap="square" lIns="0" tIns="0" rIns="0" bIns="0">
            <a:spAutoFit/>
          </a:bodyPr>
          <a:lstStyle/>
          <a:p>
            <a:pPr>
              <a:defRPr sz="1300" b="1">
                <a:solidFill>
                  <a:srgbClr val="F59E0B"/>
                </a:solidFill>
              </a:defRPr>
            </a:pPr>
            <a:r>
              <a:t>3. Context-Only Gating</a:t>
            </a:r>
          </a:p>
        </p:txBody>
      </p:sp>
      <p:sp>
        <p:nvSpPr>
          <p:cNvPr id="14" name="TextBox 13"/>
          <p:cNvSpPr txBox="1"/>
          <p:nvPr/>
        </p:nvSpPr>
        <p:spPr>
          <a:xfrm>
            <a:off x="6382512" y="2240280"/>
            <a:ext cx="2194560" cy="3749039"/>
          </a:xfrm>
          <a:prstGeom prst="rect">
            <a:avLst/>
          </a:prstGeom>
          <a:noFill/>
        </p:spPr>
        <p:txBody>
          <a:bodyPr wrap="square">
            <a:spAutoFit/>
          </a:bodyPr>
          <a:lstStyle/>
          <a:p>
            <a:pPr>
              <a:defRPr b="1" sz="1000">
                <a:solidFill>
                  <a:srgbClr val="F8FAFC"/>
                </a:solidFill>
              </a:defRPr>
            </a:pPr>
            <a:r>
              <a:t>Metadata-Level Inspection</a:t>
            </a:r>
          </a:p>
          <a:p>
            <a:pPr>
              <a:spcAft>
                <a:spcPts val="1200"/>
              </a:spcAft>
              <a:defRPr sz="900">
                <a:solidFill>
                  <a:srgbClr val="94A3B8"/>
                </a:solidFill>
              </a:defRPr>
            </a:pPr>
            <a:r>
              <a:t>Policy gate evaluates action sensitivity categories without reading confidential financial payload data.</a:t>
            </a:r>
          </a:p>
          <a:p>
            <a:pPr>
              <a:defRPr b="1" sz="1000">
                <a:solidFill>
                  <a:srgbClr val="F8FAFC"/>
                </a:solidFill>
              </a:defRPr>
            </a:pPr>
            <a:r>
              <a:t>Principle of Least Privilege</a:t>
            </a:r>
          </a:p>
          <a:p>
            <a:pPr>
              <a:defRPr sz="900">
                <a:solidFill>
                  <a:srgbClr val="94A3B8"/>
                </a:solidFill>
              </a:defRPr>
            </a:pPr>
            <a:r>
              <a:t>Separation of concerns between AI inference, policy evaluation, and enterprise transaction execution.</a:t>
            </a:r>
          </a:p>
        </p:txBody>
      </p:sp>
      <p:sp>
        <p:nvSpPr>
          <p:cNvPr id="15" name="Rounded Rectangle 14"/>
          <p:cNvSpPr/>
          <p:nvPr/>
        </p:nvSpPr>
        <p:spPr>
          <a:xfrm>
            <a:off x="89611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1920240"/>
            <a:ext cx="2057400" cy="365760"/>
          </a:xfrm>
          <a:prstGeom prst="rect">
            <a:avLst/>
          </a:prstGeom>
          <a:noFill/>
        </p:spPr>
        <p:txBody>
          <a:bodyPr wrap="square" lIns="0" tIns="0" rIns="0" bIns="0">
            <a:spAutoFit/>
          </a:bodyPr>
          <a:lstStyle/>
          <a:p>
            <a:pPr>
              <a:defRPr sz="1300" b="1">
                <a:solidFill>
                  <a:srgbClr val="10B981"/>
                </a:solidFill>
              </a:defRPr>
            </a:pPr>
            <a:r>
              <a:t>4. Legal &amp; Regulatory</a:t>
            </a:r>
          </a:p>
        </p:txBody>
      </p:sp>
      <p:sp>
        <p:nvSpPr>
          <p:cNvPr id="17" name="TextBox 16"/>
          <p:cNvSpPr txBox="1"/>
          <p:nvPr/>
        </p:nvSpPr>
        <p:spPr>
          <a:xfrm>
            <a:off x="9125712" y="2240280"/>
            <a:ext cx="2194560" cy="3749039"/>
          </a:xfrm>
          <a:prstGeom prst="rect">
            <a:avLst/>
          </a:prstGeom>
          <a:noFill/>
        </p:spPr>
        <p:txBody>
          <a:bodyPr wrap="square">
            <a:spAutoFit/>
          </a:bodyPr>
          <a:lstStyle/>
          <a:p>
            <a:pPr>
              <a:defRPr b="1" sz="1000">
                <a:solidFill>
                  <a:srgbClr val="F8FAFC"/>
                </a:solidFill>
              </a:defRPr>
            </a:pPr>
            <a:r>
              <a:t>DPDPA 2023 Compliant</a:t>
            </a:r>
          </a:p>
          <a:p>
            <a:pPr>
              <a:spcAft>
                <a:spcPts val="1200"/>
              </a:spcAft>
              <a:defRPr sz="900">
                <a:solidFill>
                  <a:srgbClr val="94A3B8"/>
                </a:solidFill>
              </a:defRPr>
            </a:pPr>
            <a:r>
              <a:t>Strict adherence to India's Digital Personal Data Protection Act requirements for biometric data minimization.</a:t>
            </a:r>
          </a:p>
          <a:p>
            <a:pPr>
              <a:defRPr b="1" sz="1000">
                <a:solidFill>
                  <a:srgbClr val="F8FAFC"/>
                </a:solidFill>
              </a:defRPr>
            </a:pPr>
            <a:r>
              <a:t>GDPR Art. 9 &amp; ISO 27001</a:t>
            </a:r>
          </a:p>
          <a:p>
            <a:pPr>
              <a:defRPr sz="900">
                <a:solidFill>
                  <a:srgbClr val="94A3B8"/>
                </a:solidFill>
              </a:defRPr>
            </a:pPr>
            <a:r>
              <a:t>Meets European standards for special category biometric data protection and ISO audit requirements.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WORKING PROTOTYPE IMPLEMENTATION</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End-to-End Functional Stack &amp; SIH Demonstration Setup</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A fully tested, production-grade architecture built with FastAPI, WebSockets, React 19, and Vite.</a:t>
            </a:r>
          </a:p>
        </p:txBody>
      </p:sp>
      <p:sp>
        <p:nvSpPr>
          <p:cNvPr id="6" name="Rounded Rectangle 5"/>
          <p:cNvSpPr/>
          <p:nvPr/>
        </p:nvSpPr>
        <p:spPr>
          <a:xfrm>
            <a:off x="7315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926080" cy="365760"/>
          </a:xfrm>
          <a:prstGeom prst="rect">
            <a:avLst/>
          </a:prstGeom>
          <a:noFill/>
        </p:spPr>
        <p:txBody>
          <a:bodyPr wrap="square" lIns="0" tIns="0" rIns="0" bIns="0">
            <a:spAutoFit/>
          </a:bodyPr>
          <a:lstStyle/>
          <a:p>
            <a:pPr>
              <a:defRPr sz="1300" b="1">
                <a:solidFill>
                  <a:srgbClr val="0EA5E9"/>
                </a:solidFill>
              </a:defRPr>
            </a:pPr>
            <a:r>
              <a:t>Backend Architecture</a:t>
            </a:r>
          </a:p>
        </p:txBody>
      </p:sp>
      <p:sp>
        <p:nvSpPr>
          <p:cNvPr id="8" name="TextBox 7"/>
          <p:cNvSpPr txBox="1"/>
          <p:nvPr/>
        </p:nvSpPr>
        <p:spPr>
          <a:xfrm>
            <a:off x="960120" y="2240280"/>
            <a:ext cx="2926080" cy="3749039"/>
          </a:xfrm>
          <a:prstGeom prst="rect">
            <a:avLst/>
          </a:prstGeom>
          <a:noFill/>
        </p:spPr>
        <p:txBody>
          <a:bodyPr wrap="square">
            <a:spAutoFit/>
          </a:bodyPr>
          <a:lstStyle/>
          <a:p>
            <a:pPr>
              <a:defRPr b="1" sz="1000">
                <a:solidFill>
                  <a:srgbClr val="F8FAFC"/>
                </a:solidFill>
              </a:defRPr>
            </a:pPr>
            <a:r>
              <a:t>FastAPI Async Framework</a:t>
            </a:r>
          </a:p>
          <a:p>
            <a:pPr>
              <a:spcAft>
                <a:spcPts val="800"/>
              </a:spcAft>
              <a:defRPr sz="900">
                <a:solidFill>
                  <a:srgbClr val="94A3B8"/>
                </a:solidFill>
              </a:defRPr>
            </a:pPr>
            <a:r>
              <a:t>High-throughput asynchronous Python ASGI server handling concurrent streaming sessions.</a:t>
            </a:r>
          </a:p>
          <a:p>
            <a:pPr>
              <a:defRPr b="1" sz="1000">
                <a:solidFill>
                  <a:srgbClr val="F8FAFC"/>
                </a:solidFill>
              </a:defRPr>
            </a:pPr>
            <a:r>
              <a:t>Real-Time WebSockets</a:t>
            </a:r>
          </a:p>
          <a:p>
            <a:pPr>
              <a:spcAft>
                <a:spcPts val="800"/>
              </a:spcAft>
              <a:defRPr sz="900">
                <a:solidFill>
                  <a:srgbClr val="94A3B8"/>
                </a:solidFill>
              </a:defRPr>
            </a:pPr>
            <a:r>
              <a:t>Dedicated binary streaming channel (/api/v1/stream/{call_id}) with live bidirectional telemetry feedback.</a:t>
            </a:r>
          </a:p>
          <a:p>
            <a:pPr>
              <a:defRPr b="1" sz="1000">
                <a:solidFill>
                  <a:srgbClr val="F8FAFC"/>
                </a:solidFill>
              </a:defRPr>
            </a:pPr>
            <a:r>
              <a:t>Ensemble Inference Pipeline</a:t>
            </a:r>
          </a:p>
          <a:p>
            <a:pPr>
              <a:spcAft>
                <a:spcPts val="800"/>
              </a:spcAft>
              <a:defRPr sz="900">
                <a:solidFill>
                  <a:srgbClr val="94A3B8"/>
                </a:solidFill>
              </a:defRPr>
            </a:pPr>
            <a:r>
              <a:t>Modular AI orchestrator loading PyTorch/ONNX models with automated CPU acoustic fallback.</a:t>
            </a:r>
          </a:p>
          <a:p>
            <a:pPr>
              <a:defRPr b="1" sz="1000">
                <a:solidFill>
                  <a:srgbClr val="F8FAFC"/>
                </a:solidFill>
              </a:defRPr>
            </a:pPr>
            <a:r>
              <a:t>Verified Test Suite</a:t>
            </a:r>
          </a:p>
          <a:p>
            <a:pPr>
              <a:defRPr sz="900">
                <a:solidFill>
                  <a:srgbClr val="94A3B8"/>
                </a:solidFill>
              </a:defRPr>
            </a:pPr>
            <a:r>
              <a:t>Comprehensive automated test suite (17/17 passing unit tests) validating risk scoring, policy gates, and audit chaining.</a:t>
            </a:r>
          </a:p>
        </p:txBody>
      </p:sp>
      <p:sp>
        <p:nvSpPr>
          <p:cNvPr id="9" name="Rounded Rectangle 8"/>
          <p:cNvSpPr/>
          <p:nvPr/>
        </p:nvSpPr>
        <p:spPr>
          <a:xfrm>
            <a:off x="43891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1920240"/>
            <a:ext cx="2926080" cy="365760"/>
          </a:xfrm>
          <a:prstGeom prst="rect">
            <a:avLst/>
          </a:prstGeom>
          <a:noFill/>
        </p:spPr>
        <p:txBody>
          <a:bodyPr wrap="square" lIns="0" tIns="0" rIns="0" bIns="0">
            <a:spAutoFit/>
          </a:bodyPr>
          <a:lstStyle/>
          <a:p>
            <a:pPr>
              <a:defRPr sz="1300" b="1">
                <a:solidFill>
                  <a:srgbClr val="14B8A6"/>
                </a:solidFill>
              </a:defRPr>
            </a:pPr>
            <a:r>
              <a:t>SOC Console &amp; Frontend</a:t>
            </a:r>
          </a:p>
        </p:txBody>
      </p:sp>
      <p:sp>
        <p:nvSpPr>
          <p:cNvPr id="11" name="TextBox 10"/>
          <p:cNvSpPr txBox="1"/>
          <p:nvPr/>
        </p:nvSpPr>
        <p:spPr>
          <a:xfrm>
            <a:off x="4617720" y="2240280"/>
            <a:ext cx="2926080" cy="3749039"/>
          </a:xfrm>
          <a:prstGeom prst="rect">
            <a:avLst/>
          </a:prstGeom>
          <a:noFill/>
        </p:spPr>
        <p:txBody>
          <a:bodyPr wrap="square">
            <a:spAutoFit/>
          </a:bodyPr>
          <a:lstStyle/>
          <a:p>
            <a:pPr>
              <a:defRPr b="1" sz="1000">
                <a:solidFill>
                  <a:srgbClr val="F8FAFC"/>
                </a:solidFill>
              </a:defRPr>
            </a:pPr>
            <a:r>
              <a:t>React 19 &amp; TypeScript</a:t>
            </a:r>
          </a:p>
          <a:p>
            <a:pPr>
              <a:spcAft>
                <a:spcPts val="800"/>
              </a:spcAft>
              <a:defRPr sz="900">
                <a:solidFill>
                  <a:srgbClr val="94A3B8"/>
                </a:solidFill>
              </a:defRPr>
            </a:pPr>
            <a:r>
              <a:t>Strict type-safe enterprise UI built with modern hooks and high-density cybersecurity ergonomics.</a:t>
            </a:r>
          </a:p>
          <a:p>
            <a:pPr>
              <a:defRPr b="1" sz="1000">
                <a:solidFill>
                  <a:srgbClr val="F8FAFC"/>
                </a:solidFill>
              </a:defRPr>
            </a:pPr>
            <a:r>
              <a:t>Live Threat Telemetry</a:t>
            </a:r>
          </a:p>
          <a:p>
            <a:pPr>
              <a:spcAft>
                <a:spcPts val="800"/>
              </a:spcAft>
              <a:defRPr sz="900">
                <a:solidFill>
                  <a:srgbClr val="94A3B8"/>
                </a:solidFill>
              </a:defRPr>
            </a:pPr>
            <a:r>
              <a:t>Real-time audio waveform canvas, frequency spectrum visualizer, and dynamic Threat Gauge (0-100).</a:t>
            </a:r>
          </a:p>
          <a:p>
            <a:pPr>
              <a:defRPr b="1" sz="1000">
                <a:solidFill>
                  <a:srgbClr val="F8FAFC"/>
                </a:solidFill>
              </a:defRPr>
            </a:pPr>
            <a:r>
              <a:t>Active Policy Trigger View</a:t>
            </a:r>
          </a:p>
          <a:p>
            <a:pPr>
              <a:spcAft>
                <a:spcPts val="800"/>
              </a:spcAft>
              <a:defRPr sz="900">
                <a:solidFill>
                  <a:srgbClr val="94A3B8"/>
                </a:solidFill>
              </a:defRPr>
            </a:pPr>
            <a:r>
              <a:t>Visual indicators for ALLOW, ADDITIONAL_VERIFICATION, and HOLD status with downstream webhook payloads.</a:t>
            </a:r>
          </a:p>
          <a:p>
            <a:pPr>
              <a:defRPr b="1" sz="1000">
                <a:solidFill>
                  <a:srgbClr val="F8FAFC"/>
                </a:solidFill>
              </a:defRPr>
            </a:pPr>
            <a:r>
              <a:t>Audit Ledger Explorer</a:t>
            </a:r>
          </a:p>
          <a:p>
            <a:pPr>
              <a:defRPr sz="900">
                <a:solidFill>
                  <a:srgbClr val="94A3B8"/>
                </a:solidFill>
              </a:defRPr>
            </a:pPr>
            <a:r>
              <a:t>Interactive inspector for SHA-256 hash chains, block verification, and forensic certificate export.</a:t>
            </a:r>
          </a:p>
        </p:txBody>
      </p:sp>
      <p:sp>
        <p:nvSpPr>
          <p:cNvPr id="12" name="Rounded Rectangle 11"/>
          <p:cNvSpPr/>
          <p:nvPr/>
        </p:nvSpPr>
        <p:spPr>
          <a:xfrm>
            <a:off x="8046720" y="1737360"/>
            <a:ext cx="338328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920240"/>
            <a:ext cx="2926080" cy="365760"/>
          </a:xfrm>
          <a:prstGeom prst="rect">
            <a:avLst/>
          </a:prstGeom>
          <a:noFill/>
        </p:spPr>
        <p:txBody>
          <a:bodyPr wrap="square" lIns="0" tIns="0" rIns="0" bIns="0">
            <a:spAutoFit/>
          </a:bodyPr>
          <a:lstStyle/>
          <a:p>
            <a:pPr>
              <a:defRPr sz="1300" b="1">
                <a:solidFill>
                  <a:srgbClr val="F59E0B"/>
                </a:solidFill>
              </a:defRPr>
            </a:pPr>
            <a:r>
              <a:t>Sandbox &amp; Mobile Terminal</a:t>
            </a:r>
          </a:p>
        </p:txBody>
      </p:sp>
      <p:sp>
        <p:nvSpPr>
          <p:cNvPr id="14" name="TextBox 13"/>
          <p:cNvSpPr txBox="1"/>
          <p:nvPr/>
        </p:nvSpPr>
        <p:spPr>
          <a:xfrm>
            <a:off x="8275320" y="2240280"/>
            <a:ext cx="2926080" cy="3749039"/>
          </a:xfrm>
          <a:prstGeom prst="rect">
            <a:avLst/>
          </a:prstGeom>
          <a:noFill/>
        </p:spPr>
        <p:txBody>
          <a:bodyPr wrap="square">
            <a:spAutoFit/>
          </a:bodyPr>
          <a:lstStyle/>
          <a:p>
            <a:pPr>
              <a:defRPr b="1" sz="1000">
                <a:solidFill>
                  <a:srgbClr val="F8FAFC"/>
                </a:solidFill>
              </a:defRPr>
            </a:pPr>
            <a:r>
              <a:t>Communication Sandbox</a:t>
            </a:r>
          </a:p>
          <a:p>
            <a:pPr>
              <a:spcAft>
                <a:spcPts val="800"/>
              </a:spcAft>
              <a:defRPr sz="900">
                <a:solidFill>
                  <a:srgbClr val="94A3B8"/>
                </a:solidFill>
              </a:defRPr>
            </a:pPr>
            <a:r>
              <a:t>In-app telephony simulation environment. Demonstrates live speaker injection, deepfake impersonation, and instant gate triggering.</a:t>
            </a:r>
          </a:p>
          <a:p>
            <a:pPr>
              <a:defRPr b="1" sz="1000">
                <a:solidFill>
                  <a:srgbClr val="F8FAFC"/>
                </a:solidFill>
              </a:defRPr>
            </a:pPr>
            <a:r>
              <a:t>Mobile PWA &amp; Android</a:t>
            </a:r>
          </a:p>
          <a:p>
            <a:pPr>
              <a:spcAft>
                <a:spcPts val="800"/>
              </a:spcAft>
              <a:defRPr sz="900">
                <a:solidFill>
                  <a:srgbClr val="94A3B8"/>
                </a:solidFill>
              </a:defRPr>
            </a:pPr>
            <a:r>
              <a:t>Responsive mobile-first layout with Capacitor Android scaffolding for remote supervisor emergency authorization.</a:t>
            </a:r>
          </a:p>
          <a:p>
            <a:pPr>
              <a:defRPr b="1" sz="1000">
                <a:solidFill>
                  <a:srgbClr val="F8FAFC"/>
                </a:solidFill>
              </a:defRPr>
            </a:pPr>
            <a:r>
              <a:t>Lab-Controlled Telco Tap</a:t>
            </a:r>
          </a:p>
          <a:p>
            <a:pPr>
              <a:spcAft>
                <a:spcPts val="800"/>
              </a:spcAft>
              <a:defRPr sz="900">
                <a:solidFill>
                  <a:srgbClr val="94A3B8"/>
                </a:solidFill>
              </a:defRPr>
            </a:pPr>
            <a:r>
              <a:t>Transparently explains how real-world PSTN/SIP lines are emulated via WebRTC taps in our hackathon sandbox environment.</a:t>
            </a:r>
          </a:p>
          <a:p>
            <a:pPr>
              <a:defRPr b="1" sz="1000">
                <a:solidFill>
                  <a:srgbClr val="F8FAFC"/>
                </a:solidFill>
              </a:defRPr>
            </a:pPr>
            <a:r>
              <a:t>Zero Demo Data / Clean State</a:t>
            </a:r>
          </a:p>
          <a:p>
            <a:pPr>
              <a:defRPr sz="900">
                <a:solidFill>
                  <a:srgbClr val="94A3B8"/>
                </a:solidFill>
              </a:defRPr>
            </a:pPr>
            <a:r>
              <a:t>Purged of synthetic mock logs. Ready for real-time live microphone and cloned audio evaluation by jury.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PERFORMANCE BENCHMARKS &amp; SCALABILITY</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Sub-150ms Latency Budget &amp; Distributed Architecture</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Designed to operate under enterprise telephony throughput without introducing conversational lag.</a:t>
            </a:r>
          </a:p>
        </p:txBody>
      </p:sp>
      <p:sp>
        <p:nvSpPr>
          <p:cNvPr id="6" name="Rounded Rectangle 5"/>
          <p:cNvSpPr/>
          <p:nvPr/>
        </p:nvSpPr>
        <p:spPr>
          <a:xfrm>
            <a:off x="731520" y="1737360"/>
            <a:ext cx="54864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5029200" cy="365760"/>
          </a:xfrm>
          <a:prstGeom prst="rect">
            <a:avLst/>
          </a:prstGeom>
          <a:noFill/>
        </p:spPr>
        <p:txBody>
          <a:bodyPr wrap="square" lIns="0" tIns="0" rIns="0" bIns="0">
            <a:spAutoFit/>
          </a:bodyPr>
          <a:lstStyle/>
          <a:p>
            <a:pPr>
              <a:defRPr sz="1300" b="1">
                <a:solidFill>
                  <a:srgbClr val="0EA5E9"/>
                </a:solidFill>
              </a:defRPr>
            </a:pPr>
            <a:r>
              <a:t>Sub-150ms Latency Budget Breakdown</a:t>
            </a:r>
          </a:p>
        </p:txBody>
      </p:sp>
      <p:sp>
        <p:nvSpPr>
          <p:cNvPr id="8" name="TextBox 7"/>
          <p:cNvSpPr txBox="1"/>
          <p:nvPr/>
        </p:nvSpPr>
        <p:spPr>
          <a:xfrm>
            <a:off x="960120" y="2240280"/>
            <a:ext cx="5029200" cy="3749039"/>
          </a:xfrm>
          <a:prstGeom prst="rect">
            <a:avLst/>
          </a:prstGeom>
          <a:noFill/>
        </p:spPr>
        <p:txBody>
          <a:bodyPr wrap="square">
            <a:spAutoFit/>
          </a:bodyPr>
          <a:lstStyle/>
          <a:p>
            <a:pPr>
              <a:defRPr b="1" sz="1000">
                <a:solidFill>
                  <a:srgbClr val="F8FAFC"/>
                </a:solidFill>
              </a:defRPr>
            </a:pPr>
            <a:r>
              <a:t>Audio Chunk Transmission (WebSocket / RTP)  </a:t>
            </a:r>
            <a:r>
              <a:rPr b="1">
                <a:solidFill>
                  <a:srgbClr val="0EA5E9"/>
                </a:solidFill>
              </a:rPr>
              <a:t>~30 - 50 ms</a:t>
            </a:r>
          </a:p>
          <a:p>
            <a:pPr>
              <a:spcAft>
                <a:spcPts val="600"/>
              </a:spcAft>
              <a:defRPr sz="850">
                <a:solidFill>
                  <a:srgbClr val="94A3B8"/>
                </a:solidFill>
              </a:defRPr>
            </a:pPr>
            <a:r>
              <a:t>   Sub-frame packetization over TCP/UDP.</a:t>
            </a:r>
          </a:p>
          <a:p>
            <a:pPr>
              <a:defRPr b="1" sz="1000">
                <a:solidFill>
                  <a:srgbClr val="F8FAFC"/>
                </a:solidFill>
              </a:defRPr>
            </a:pPr>
            <a:r>
              <a:t>VAD &amp; Resampling (16 kHz Linear PCM)  </a:t>
            </a:r>
            <a:r>
              <a:rPr b="1">
                <a:solidFill>
                  <a:srgbClr val="0EA5E9"/>
                </a:solidFill>
              </a:rPr>
              <a:t>~10 - 15 ms</a:t>
            </a:r>
          </a:p>
          <a:p>
            <a:pPr>
              <a:spcAft>
                <a:spcPts val="600"/>
              </a:spcAft>
              <a:defRPr sz="850">
                <a:solidFill>
                  <a:srgbClr val="94A3B8"/>
                </a:solidFill>
              </a:defRPr>
            </a:pPr>
            <a:r>
              <a:t>   Lightweight energy-adaptive RMS filter.</a:t>
            </a:r>
          </a:p>
          <a:p>
            <a:pPr>
              <a:defRPr b="1" sz="1000">
                <a:solidFill>
                  <a:srgbClr val="F8FAFC"/>
                </a:solidFill>
              </a:defRPr>
            </a:pPr>
            <a:r>
              <a:t>Dual AI Inference (ONNX / TensorRT GPU)  </a:t>
            </a:r>
            <a:r>
              <a:rPr b="1">
                <a:solidFill>
                  <a:srgbClr val="0EA5E9"/>
                </a:solidFill>
              </a:rPr>
              <a:t>~60 - 80 ms</a:t>
            </a:r>
          </a:p>
          <a:p>
            <a:pPr>
              <a:spcAft>
                <a:spcPts val="600"/>
              </a:spcAft>
              <a:defRPr sz="850">
                <a:solidFill>
                  <a:srgbClr val="94A3B8"/>
                </a:solidFill>
              </a:defRPr>
            </a:pPr>
            <a:r>
              <a:t>   Parallel execution of WavLM and ECAPA-TDNN.</a:t>
            </a:r>
          </a:p>
          <a:p>
            <a:pPr>
              <a:defRPr b="1" sz="1000">
                <a:solidFill>
                  <a:srgbClr val="F8FAFC"/>
                </a:solidFill>
              </a:defRPr>
            </a:pPr>
            <a:r>
              <a:t>Risk Fusion &amp; Policy Decision Engine  </a:t>
            </a:r>
            <a:r>
              <a:rPr b="1">
                <a:solidFill>
                  <a:srgbClr val="0EA5E9"/>
                </a:solidFill>
              </a:rPr>
              <a:t>&lt; 5 ms</a:t>
            </a:r>
          </a:p>
          <a:p>
            <a:pPr>
              <a:spcAft>
                <a:spcPts val="600"/>
              </a:spcAft>
              <a:defRPr sz="850">
                <a:solidFill>
                  <a:srgbClr val="94A3B8"/>
                </a:solidFill>
              </a:defRPr>
            </a:pPr>
            <a:r>
              <a:t>   In-memory dynamic weighted equation.</a:t>
            </a:r>
          </a:p>
          <a:p>
            <a:pPr>
              <a:defRPr b="1" sz="1000">
                <a:solidFill>
                  <a:srgbClr val="F8FAFC"/>
                </a:solidFill>
              </a:defRPr>
            </a:pPr>
            <a:r>
              <a:t>Audit Ledger State Hash (SHA-256)  </a:t>
            </a:r>
            <a:r>
              <a:rPr b="1">
                <a:solidFill>
                  <a:srgbClr val="0EA5E9"/>
                </a:solidFill>
              </a:rPr>
              <a:t>&lt; 2 ms</a:t>
            </a:r>
          </a:p>
          <a:p>
            <a:pPr>
              <a:spcAft>
                <a:spcPts val="600"/>
              </a:spcAft>
              <a:defRPr sz="850">
                <a:solidFill>
                  <a:srgbClr val="94A3B8"/>
                </a:solidFill>
              </a:defRPr>
            </a:pPr>
            <a:r>
              <a:t>   Local memory-mapped cryptographic chaining.</a:t>
            </a:r>
          </a:p>
          <a:p>
            <a:pPr>
              <a:defRPr b="1" sz="1000">
                <a:solidFill>
                  <a:srgbClr val="10B981"/>
                </a:solidFill>
              </a:defRPr>
            </a:pPr>
            <a:r>
              <a:t>TOTAL DECISION LATENCY PER WINDOW  </a:t>
            </a:r>
            <a:r>
              <a:rPr b="1">
                <a:solidFill>
                  <a:srgbClr val="10B981"/>
                </a:solidFill>
              </a:rPr>
              <a:t>&lt; 150 ms</a:t>
            </a:r>
          </a:p>
          <a:p>
            <a:pPr>
              <a:defRPr sz="850">
                <a:solidFill>
                  <a:srgbClr val="94A3B8"/>
                </a:solidFill>
              </a:defRPr>
            </a:pPr>
            <a:r>
              <a:t>   Well below conversational pause perception (~300ms).</a:t>
            </a:r>
          </a:p>
        </p:txBody>
      </p:sp>
      <p:sp>
        <p:nvSpPr>
          <p:cNvPr id="9" name="Rounded Rectangle 8"/>
          <p:cNvSpPr/>
          <p:nvPr/>
        </p:nvSpPr>
        <p:spPr>
          <a:xfrm>
            <a:off x="6492240" y="1737360"/>
            <a:ext cx="493776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1920240"/>
            <a:ext cx="4480560" cy="365760"/>
          </a:xfrm>
          <a:prstGeom prst="rect">
            <a:avLst/>
          </a:prstGeom>
          <a:noFill/>
        </p:spPr>
        <p:txBody>
          <a:bodyPr wrap="square" lIns="0" tIns="0" rIns="0" bIns="0">
            <a:spAutoFit/>
          </a:bodyPr>
          <a:lstStyle/>
          <a:p>
            <a:pPr>
              <a:defRPr sz="1300" b="1">
                <a:solidFill>
                  <a:srgbClr val="14B8A6"/>
                </a:solidFill>
              </a:defRPr>
            </a:pPr>
            <a:r>
              <a:t>Production Scalability Model</a:t>
            </a:r>
          </a:p>
        </p:txBody>
      </p:sp>
      <p:sp>
        <p:nvSpPr>
          <p:cNvPr id="11" name="TextBox 10"/>
          <p:cNvSpPr txBox="1"/>
          <p:nvPr/>
        </p:nvSpPr>
        <p:spPr>
          <a:xfrm>
            <a:off x="6720840" y="2240280"/>
            <a:ext cx="4480560" cy="3749039"/>
          </a:xfrm>
          <a:prstGeom prst="rect">
            <a:avLst/>
          </a:prstGeom>
          <a:noFill/>
        </p:spPr>
        <p:txBody>
          <a:bodyPr wrap="square">
            <a:spAutoFit/>
          </a:bodyPr>
          <a:lstStyle/>
          <a:p>
            <a:pPr>
              <a:defRPr b="1" sz="1000">
                <a:solidFill>
                  <a:srgbClr val="F8FAFC"/>
                </a:solidFill>
              </a:defRPr>
            </a:pPr>
            <a:r>
              <a:t>Stateless Streaming Workers</a:t>
            </a:r>
          </a:p>
          <a:p>
            <a:pPr>
              <a:spcAft>
                <a:spcPts val="800"/>
              </a:spcAft>
              <a:defRPr sz="900">
                <a:solidFill>
                  <a:srgbClr val="94A3B8"/>
                </a:solidFill>
              </a:defRPr>
            </a:pPr>
            <a:r>
              <a:t>FastAPI ingestion nodes are stateless. Audio streams can be routed across clusters via standard Layer 4/7 load balancers.</a:t>
            </a:r>
          </a:p>
          <a:p>
            <a:pPr>
              <a:defRPr b="1" sz="1000">
                <a:solidFill>
                  <a:srgbClr val="F8FAFC"/>
                </a:solidFill>
              </a:defRPr>
            </a:pPr>
            <a:r>
              <a:t>Decoupled GPU Inference Queues</a:t>
            </a:r>
          </a:p>
          <a:p>
            <a:pPr>
              <a:spcAft>
                <a:spcPts val="800"/>
              </a:spcAft>
              <a:defRPr sz="900">
                <a:solidFill>
                  <a:srgbClr val="94A3B8"/>
                </a:solidFill>
              </a:defRPr>
            </a:pPr>
            <a:r>
              <a:t>High-load telephony traffic is queued via Redis Streams / RabbitMQ to dedicated TensorRT inference worker pools.</a:t>
            </a:r>
          </a:p>
          <a:p>
            <a:pPr>
              <a:defRPr b="1" sz="1000">
                <a:solidFill>
                  <a:srgbClr val="F8FAFC"/>
                </a:solidFill>
              </a:defRPr>
            </a:pPr>
            <a:r>
              <a:t>Edge Appliance Deployment</a:t>
            </a:r>
          </a:p>
          <a:p>
            <a:pPr>
              <a:spcAft>
                <a:spcPts val="800"/>
              </a:spcAft>
              <a:defRPr sz="900">
                <a:solidFill>
                  <a:srgbClr val="94A3B8"/>
                </a:solidFill>
              </a:defRPr>
            </a:pPr>
            <a:r>
              <a:t>Compact ONNX-quantized models can run directly on enterprise on-premise hardware for air-gapped security.</a:t>
            </a:r>
          </a:p>
          <a:p>
            <a:pPr>
              <a:defRPr b="1" sz="1000">
                <a:solidFill>
                  <a:srgbClr val="F8FAFC"/>
                </a:solidFill>
              </a:defRPr>
            </a:pPr>
            <a:r>
              <a:t>Capacity Benchmark</a:t>
            </a:r>
          </a:p>
          <a:p>
            <a:pPr>
              <a:defRPr sz="900">
                <a:solidFill>
                  <a:srgbClr val="94A3B8"/>
                </a:solidFill>
              </a:defRPr>
            </a:pPr>
            <a:r>
              <a:t>A single standard 16-core server with one NVIDIA RTX 4090 GPU can sustain 120+ concurrent live voice streams at 500ms hop intervals.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OPERATIONAL IMPACT &amp; MARKET ALIGNMENT</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Defending High-Consequence Voice Communications</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Targeted deployment across banking, national defense, enterprise IT, and civic protection.</a:t>
            </a:r>
          </a:p>
        </p:txBody>
      </p:sp>
      <p:sp>
        <p:nvSpPr>
          <p:cNvPr id="6" name="Rounded Rectangle 5"/>
          <p:cNvSpPr/>
          <p:nvPr/>
        </p:nvSpPr>
        <p:spPr>
          <a:xfrm>
            <a:off x="7315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2057400" cy="365760"/>
          </a:xfrm>
          <a:prstGeom prst="rect">
            <a:avLst/>
          </a:prstGeom>
          <a:noFill/>
        </p:spPr>
        <p:txBody>
          <a:bodyPr wrap="square" lIns="0" tIns="0" rIns="0" bIns="0">
            <a:spAutoFit/>
          </a:bodyPr>
          <a:lstStyle/>
          <a:p>
            <a:pPr>
              <a:defRPr sz="1300" b="1">
                <a:solidFill>
                  <a:srgbClr val="0EA5E9"/>
                </a:solidFill>
              </a:defRPr>
            </a:pPr>
            <a:r>
              <a:t>1. Banking &amp; FinTech</a:t>
            </a:r>
          </a:p>
        </p:txBody>
      </p:sp>
      <p:sp>
        <p:nvSpPr>
          <p:cNvPr id="8" name="TextBox 7"/>
          <p:cNvSpPr txBox="1"/>
          <p:nvPr/>
        </p:nvSpPr>
        <p:spPr>
          <a:xfrm>
            <a:off x="896112" y="2240280"/>
            <a:ext cx="2194560" cy="3749039"/>
          </a:xfrm>
          <a:prstGeom prst="rect">
            <a:avLst/>
          </a:prstGeom>
          <a:noFill/>
        </p:spPr>
        <p:txBody>
          <a:bodyPr wrap="square">
            <a:spAutoFit/>
          </a:bodyPr>
          <a:lstStyle/>
          <a:p>
            <a:pPr>
              <a:defRPr b="1" sz="1000">
                <a:solidFill>
                  <a:srgbClr val="F8FAFC"/>
                </a:solidFill>
              </a:defRPr>
            </a:pPr>
            <a:r>
              <a:t>High-Value Wire Approvals</a:t>
            </a:r>
          </a:p>
          <a:p>
            <a:pPr>
              <a:spcAft>
                <a:spcPts val="1000"/>
              </a:spcAft>
              <a:defRPr sz="900">
                <a:solidFill>
                  <a:srgbClr val="94A3B8"/>
                </a:solidFill>
              </a:defRPr>
            </a:pPr>
            <a:r>
              <a:t>Protecting corporate treasury phone authorizations from executive voice clones.</a:t>
            </a:r>
          </a:p>
          <a:p>
            <a:pPr>
              <a:defRPr b="1" sz="1000">
                <a:solidFill>
                  <a:srgbClr val="F8FAFC"/>
                </a:solidFill>
              </a:defRPr>
            </a:pPr>
            <a:r>
              <a:t>Wealth Management Call Centers</a:t>
            </a:r>
          </a:p>
          <a:p>
            <a:pPr>
              <a:spcAft>
                <a:spcPts val="1000"/>
              </a:spcAft>
              <a:defRPr sz="900">
                <a:solidFill>
                  <a:srgbClr val="94A3B8"/>
                </a:solidFill>
              </a:defRPr>
            </a:pPr>
            <a:r>
              <a:t>Verifying high-net-worth client identity before executing stock liquidations or fund dispatches.</a:t>
            </a:r>
          </a:p>
          <a:p>
            <a:pPr>
              <a:defRPr b="1" sz="1000">
                <a:solidFill>
                  <a:srgbClr val="F8FAFC"/>
                </a:solidFill>
              </a:defRPr>
            </a:pPr>
            <a:r>
              <a:t>Direct Impact</a:t>
            </a:r>
          </a:p>
          <a:p>
            <a:pPr>
              <a:defRPr sz="900">
                <a:solidFill>
                  <a:srgbClr val="94A3B8"/>
                </a:solidFill>
              </a:defRPr>
            </a:pPr>
            <a:r>
              <a:t>Prevents multimillion-dollar authorized push payment (APP) fraud.</a:t>
            </a:r>
          </a:p>
        </p:txBody>
      </p:sp>
      <p:sp>
        <p:nvSpPr>
          <p:cNvPr id="9" name="Rounded Rectangle 8"/>
          <p:cNvSpPr/>
          <p:nvPr/>
        </p:nvSpPr>
        <p:spPr>
          <a:xfrm>
            <a:off x="34747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1920240"/>
            <a:ext cx="2057400" cy="365760"/>
          </a:xfrm>
          <a:prstGeom prst="rect">
            <a:avLst/>
          </a:prstGeom>
          <a:noFill/>
        </p:spPr>
        <p:txBody>
          <a:bodyPr wrap="square" lIns="0" tIns="0" rIns="0" bIns="0">
            <a:spAutoFit/>
          </a:bodyPr>
          <a:lstStyle/>
          <a:p>
            <a:pPr>
              <a:defRPr sz="1300" b="1">
                <a:solidFill>
                  <a:srgbClr val="14B8A6"/>
                </a:solidFill>
              </a:defRPr>
            </a:pPr>
            <a:r>
              <a:t>2. Government &amp; Defense</a:t>
            </a:r>
          </a:p>
        </p:txBody>
      </p:sp>
      <p:sp>
        <p:nvSpPr>
          <p:cNvPr id="11" name="TextBox 10"/>
          <p:cNvSpPr txBox="1"/>
          <p:nvPr/>
        </p:nvSpPr>
        <p:spPr>
          <a:xfrm>
            <a:off x="3639312" y="2240280"/>
            <a:ext cx="2194560" cy="3749039"/>
          </a:xfrm>
          <a:prstGeom prst="rect">
            <a:avLst/>
          </a:prstGeom>
          <a:noFill/>
        </p:spPr>
        <p:txBody>
          <a:bodyPr wrap="square">
            <a:spAutoFit/>
          </a:bodyPr>
          <a:lstStyle/>
          <a:p>
            <a:pPr>
              <a:defRPr b="1" sz="1000">
                <a:solidFill>
                  <a:srgbClr val="F8FAFC"/>
                </a:solidFill>
              </a:defRPr>
            </a:pPr>
            <a:r>
              <a:t>Tactical Command &amp; Dispatch</a:t>
            </a:r>
          </a:p>
          <a:p>
            <a:pPr>
              <a:spcAft>
                <a:spcPts val="1000"/>
              </a:spcAft>
              <a:defRPr sz="900">
                <a:solidFill>
                  <a:srgbClr val="94A3B8"/>
                </a:solidFill>
              </a:defRPr>
            </a:pPr>
            <a:r>
              <a:t>Safeguarding voice-based command channels against adversarial electronic warfare and spoofing.</a:t>
            </a:r>
          </a:p>
          <a:p>
            <a:pPr>
              <a:defRPr b="1" sz="1000">
                <a:solidFill>
                  <a:srgbClr val="F8FAFC"/>
                </a:solidFill>
              </a:defRPr>
            </a:pPr>
            <a:r>
              <a:t>Inter-Departmental Hotline Security</a:t>
            </a:r>
          </a:p>
          <a:p>
            <a:pPr>
              <a:spcAft>
                <a:spcPts val="1000"/>
              </a:spcAft>
              <a:defRPr sz="900">
                <a:solidFill>
                  <a:srgbClr val="94A3B8"/>
                </a:solidFill>
              </a:defRPr>
            </a:pPr>
            <a:r>
              <a:t>Preventing foreign adversary impersonation of senior ministry officials.</a:t>
            </a:r>
          </a:p>
          <a:p>
            <a:pPr>
              <a:defRPr b="1" sz="1000">
                <a:solidFill>
                  <a:srgbClr val="F8FAFC"/>
                </a:solidFill>
              </a:defRPr>
            </a:pPr>
            <a:r>
              <a:t>Direct Impact</a:t>
            </a:r>
          </a:p>
          <a:p>
            <a:pPr>
              <a:defRPr sz="900">
                <a:solidFill>
                  <a:srgbClr val="94A3B8"/>
                </a:solidFill>
              </a:defRPr>
            </a:pPr>
            <a:r>
              <a:t>Protects national security decision-making integrity.</a:t>
            </a:r>
          </a:p>
        </p:txBody>
      </p:sp>
      <p:sp>
        <p:nvSpPr>
          <p:cNvPr id="12" name="Rounded Rectangle 11"/>
          <p:cNvSpPr/>
          <p:nvPr/>
        </p:nvSpPr>
        <p:spPr>
          <a:xfrm>
            <a:off x="62179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920240"/>
            <a:ext cx="2057400" cy="365760"/>
          </a:xfrm>
          <a:prstGeom prst="rect">
            <a:avLst/>
          </a:prstGeom>
          <a:noFill/>
        </p:spPr>
        <p:txBody>
          <a:bodyPr wrap="square" lIns="0" tIns="0" rIns="0" bIns="0">
            <a:spAutoFit/>
          </a:bodyPr>
          <a:lstStyle/>
          <a:p>
            <a:pPr>
              <a:defRPr sz="1300" b="1">
                <a:solidFill>
                  <a:srgbClr val="F59E0B"/>
                </a:solidFill>
              </a:defRPr>
            </a:pPr>
            <a:r>
              <a:t>3. Enterprise IT &amp; IAM</a:t>
            </a:r>
          </a:p>
        </p:txBody>
      </p:sp>
      <p:sp>
        <p:nvSpPr>
          <p:cNvPr id="14" name="TextBox 13"/>
          <p:cNvSpPr txBox="1"/>
          <p:nvPr/>
        </p:nvSpPr>
        <p:spPr>
          <a:xfrm>
            <a:off x="6382512" y="2240280"/>
            <a:ext cx="2194560" cy="3749039"/>
          </a:xfrm>
          <a:prstGeom prst="rect">
            <a:avLst/>
          </a:prstGeom>
          <a:noFill/>
        </p:spPr>
        <p:txBody>
          <a:bodyPr wrap="square">
            <a:spAutoFit/>
          </a:bodyPr>
          <a:lstStyle/>
          <a:p>
            <a:pPr>
              <a:defRPr b="1" sz="1000">
                <a:solidFill>
                  <a:srgbClr val="F8FAFC"/>
                </a:solidFill>
              </a:defRPr>
            </a:pPr>
            <a:r>
              <a:t>IT Service Desk Protection</a:t>
            </a:r>
          </a:p>
          <a:p>
            <a:pPr>
              <a:spcAft>
                <a:spcPts val="1000"/>
              </a:spcAft>
              <a:defRPr sz="900">
                <a:solidFill>
                  <a:srgbClr val="94A3B8"/>
                </a:solidFill>
              </a:defRPr>
            </a:pPr>
            <a:r>
              <a:t>Stopping social engineering attacks where attackers impersonate employees to reset MFA tokens.</a:t>
            </a:r>
          </a:p>
          <a:p>
            <a:pPr>
              <a:defRPr b="1" sz="1000">
                <a:solidFill>
                  <a:srgbClr val="F8FAFC"/>
                </a:solidFill>
              </a:defRPr>
            </a:pPr>
            <a:r>
              <a:t>Vendor Payment Detail Changes</a:t>
            </a:r>
          </a:p>
          <a:p>
            <a:pPr>
              <a:spcAft>
                <a:spcPts val="1000"/>
              </a:spcAft>
              <a:defRPr sz="900">
                <a:solidFill>
                  <a:srgbClr val="94A3B8"/>
                </a:solidFill>
              </a:defRPr>
            </a:pPr>
            <a:r>
              <a:t>Verifying voice requests from suppliers requesting bank account routing alterations.</a:t>
            </a:r>
          </a:p>
          <a:p>
            <a:pPr>
              <a:defRPr b="1" sz="1000">
                <a:solidFill>
                  <a:srgbClr val="F8FAFC"/>
                </a:solidFill>
              </a:defRPr>
            </a:pPr>
            <a:r>
              <a:t>Direct Impact</a:t>
            </a:r>
          </a:p>
          <a:p>
            <a:pPr>
              <a:defRPr sz="900">
                <a:solidFill>
                  <a:srgbClr val="94A3B8"/>
                </a:solidFill>
              </a:defRPr>
            </a:pPr>
            <a:r>
              <a:t>Closes the #1 initial access vector used by ransomware gangs.</a:t>
            </a:r>
          </a:p>
        </p:txBody>
      </p:sp>
      <p:sp>
        <p:nvSpPr>
          <p:cNvPr id="15" name="Rounded Rectangle 14"/>
          <p:cNvSpPr/>
          <p:nvPr/>
        </p:nvSpPr>
        <p:spPr>
          <a:xfrm>
            <a:off x="8961120" y="1737360"/>
            <a:ext cx="25146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89720" y="1920240"/>
            <a:ext cx="2057400" cy="365760"/>
          </a:xfrm>
          <a:prstGeom prst="rect">
            <a:avLst/>
          </a:prstGeom>
          <a:noFill/>
        </p:spPr>
        <p:txBody>
          <a:bodyPr wrap="square" lIns="0" tIns="0" rIns="0" bIns="0">
            <a:spAutoFit/>
          </a:bodyPr>
          <a:lstStyle/>
          <a:p>
            <a:pPr>
              <a:defRPr sz="1300" b="1">
                <a:solidFill>
                  <a:srgbClr val="10B981"/>
                </a:solidFill>
              </a:defRPr>
            </a:pPr>
            <a:r>
              <a:t>4. Civic &amp; Consumer</a:t>
            </a:r>
          </a:p>
        </p:txBody>
      </p:sp>
      <p:sp>
        <p:nvSpPr>
          <p:cNvPr id="17" name="TextBox 16"/>
          <p:cNvSpPr txBox="1"/>
          <p:nvPr/>
        </p:nvSpPr>
        <p:spPr>
          <a:xfrm>
            <a:off x="9125712" y="2240280"/>
            <a:ext cx="2194560" cy="3749039"/>
          </a:xfrm>
          <a:prstGeom prst="rect">
            <a:avLst/>
          </a:prstGeom>
          <a:noFill/>
        </p:spPr>
        <p:txBody>
          <a:bodyPr wrap="square">
            <a:spAutoFit/>
          </a:bodyPr>
          <a:lstStyle/>
          <a:p>
            <a:pPr>
              <a:defRPr b="1" sz="1000">
                <a:solidFill>
                  <a:srgbClr val="F8FAFC"/>
                </a:solidFill>
              </a:defRPr>
            </a:pPr>
            <a:r>
              <a:t>Emergency Extortion Defense</a:t>
            </a:r>
          </a:p>
          <a:p>
            <a:pPr>
              <a:spcAft>
                <a:spcPts val="1000"/>
              </a:spcAft>
              <a:defRPr sz="900">
                <a:solidFill>
                  <a:srgbClr val="94A3B8"/>
                </a:solidFill>
              </a:defRPr>
            </a:pPr>
            <a:r>
              <a:t>Protecting elderly citizens from simulated family kidnapping or fake police arrest calls.</a:t>
            </a:r>
          </a:p>
          <a:p>
            <a:pPr>
              <a:defRPr b="1" sz="1000">
                <a:solidFill>
                  <a:srgbClr val="F8FAFC"/>
                </a:solidFill>
              </a:defRPr>
            </a:pPr>
            <a:r>
              <a:t>Mobile Carrier Integration</a:t>
            </a:r>
          </a:p>
          <a:p>
            <a:pPr>
              <a:spcAft>
                <a:spcPts val="1000"/>
              </a:spcAft>
              <a:defRPr sz="900">
                <a:solidFill>
                  <a:srgbClr val="94A3B8"/>
                </a:solidFill>
              </a:defRPr>
            </a:pPr>
            <a:r>
              <a:t>Future deployment as a telco value-added cybersecurity service for citizen smartphones.</a:t>
            </a:r>
          </a:p>
          <a:p>
            <a:pPr>
              <a:defRPr b="1" sz="1000">
                <a:solidFill>
                  <a:srgbClr val="F8FAFC"/>
                </a:solidFill>
              </a:defRPr>
            </a:pPr>
            <a:r>
              <a:t>Direct Impact</a:t>
            </a:r>
          </a:p>
          <a:p>
            <a:pPr>
              <a:defRPr sz="900">
                <a:solidFill>
                  <a:srgbClr val="94A3B8"/>
                </a:solidFill>
              </a:defRPr>
            </a:pPr>
            <a:r>
              <a:t>Restores public trust in voice telephony across India.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EA5E9"/>
                </a:solidFill>
              </a:defRPr>
            </a:pPr>
            <a:r>
              <a:t>CONCLUSION &amp; ROADMAP</a:t>
            </a:r>
          </a:p>
        </p:txBody>
      </p:sp>
      <p:sp>
        <p:nvSpPr>
          <p:cNvPr id="4" name="TextBox 3"/>
          <p:cNvSpPr txBox="1"/>
          <p:nvPr/>
        </p:nvSpPr>
        <p:spPr>
          <a:xfrm>
            <a:off x="731520" y="658368"/>
            <a:ext cx="10698480" cy="594360"/>
          </a:xfrm>
          <a:prstGeom prst="rect">
            <a:avLst/>
          </a:prstGeom>
          <a:noFill/>
        </p:spPr>
        <p:txBody>
          <a:bodyPr wrap="square" lIns="0" tIns="0" rIns="0" bIns="0">
            <a:spAutoFit/>
          </a:bodyPr>
          <a:lstStyle/>
          <a:p>
            <a:pPr>
              <a:defRPr sz="2200" b="1">
                <a:solidFill>
                  <a:srgbClr val="F8FAFC"/>
                </a:solidFill>
              </a:defRPr>
            </a:pPr>
            <a:r>
              <a:t>VoiceGuard AI: The Future of Zero-Trust Voice Security</a:t>
            </a:r>
          </a:p>
        </p:txBody>
      </p:sp>
      <p:sp>
        <p:nvSpPr>
          <p:cNvPr id="5" name="TextBox 4"/>
          <p:cNvSpPr txBox="1"/>
          <p:nvPr/>
        </p:nvSpPr>
        <p:spPr>
          <a:xfrm>
            <a:off x="731520" y="1234440"/>
            <a:ext cx="10698480" cy="365760"/>
          </a:xfrm>
          <a:prstGeom prst="rect">
            <a:avLst/>
          </a:prstGeom>
          <a:noFill/>
        </p:spPr>
        <p:txBody>
          <a:bodyPr wrap="square" lIns="0" tIns="0" rIns="0" bIns="0">
            <a:spAutoFit/>
          </a:bodyPr>
          <a:lstStyle/>
          <a:p>
            <a:pPr>
              <a:defRPr sz="1200">
                <a:solidFill>
                  <a:srgbClr val="94A3B8"/>
                </a:solidFill>
              </a:defRPr>
            </a:pPr>
            <a:r>
              <a:t>Moving voice communication from vulnerable blindspot to a verified, defensible security perimeter.</a:t>
            </a:r>
          </a:p>
        </p:txBody>
      </p:sp>
      <p:sp>
        <p:nvSpPr>
          <p:cNvPr id="6" name="Rounded Rectangle 5"/>
          <p:cNvSpPr/>
          <p:nvPr/>
        </p:nvSpPr>
        <p:spPr>
          <a:xfrm>
            <a:off x="731520" y="1737360"/>
            <a:ext cx="548640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5029200" cy="365760"/>
          </a:xfrm>
          <a:prstGeom prst="rect">
            <a:avLst/>
          </a:prstGeom>
          <a:noFill/>
        </p:spPr>
        <p:txBody>
          <a:bodyPr wrap="square" lIns="0" tIns="0" rIns="0" bIns="0">
            <a:spAutoFit/>
          </a:bodyPr>
          <a:lstStyle/>
          <a:p>
            <a:pPr>
              <a:defRPr sz="1300" b="1">
                <a:solidFill>
                  <a:srgbClr val="0EA5E9"/>
                </a:solidFill>
              </a:defRPr>
            </a:pPr>
            <a:r>
              <a:t>The Core Defense Principle</a:t>
            </a:r>
          </a:p>
        </p:txBody>
      </p:sp>
      <p:sp>
        <p:nvSpPr>
          <p:cNvPr id="8" name="TextBox 7"/>
          <p:cNvSpPr txBox="1"/>
          <p:nvPr/>
        </p:nvSpPr>
        <p:spPr>
          <a:xfrm>
            <a:off x="960120" y="2240280"/>
            <a:ext cx="5029200" cy="3749039"/>
          </a:xfrm>
          <a:prstGeom prst="rect">
            <a:avLst/>
          </a:prstGeom>
          <a:noFill/>
        </p:spPr>
        <p:txBody>
          <a:bodyPr wrap="square">
            <a:spAutoFit/>
          </a:bodyPr>
          <a:lstStyle/>
          <a:p>
            <a:pPr>
              <a:spcAft>
                <a:spcPts val="1400"/>
              </a:spcAft>
              <a:defRPr b="1" sz="1400">
                <a:solidFill>
                  <a:srgbClr val="14B8A6"/>
                </a:solidFill>
              </a:defRPr>
            </a:pPr>
            <a:r>
              <a:t>"In the age of zero-cost generative voice cloning, identity can no longer be inferred from sound alone."</a:t>
            </a:r>
          </a:p>
          <a:p>
            <a:pPr>
              <a:defRPr b="1" sz="1050">
                <a:solidFill>
                  <a:srgbClr val="F8FAFC"/>
                </a:solidFill>
              </a:defRPr>
            </a:pPr>
            <a:r>
              <a:t>Beyond Binary Detection</a:t>
            </a:r>
          </a:p>
          <a:p>
            <a:pPr>
              <a:spcAft>
                <a:spcPts val="800"/>
              </a:spcAft>
              <a:defRPr sz="950">
                <a:solidFill>
                  <a:srgbClr val="94A3B8"/>
                </a:solidFill>
              </a:defRPr>
            </a:pPr>
            <a:r>
              <a:t>VoiceGuard does not merely ask 'Is this audio real?'. It determines: 'Should this voice communication be trusted to execute this specific high-consequence action?'</a:t>
            </a:r>
          </a:p>
          <a:p>
            <a:pPr>
              <a:defRPr b="1" sz="1050">
                <a:solidFill>
                  <a:srgbClr val="F8FAFC"/>
                </a:solidFill>
              </a:defRPr>
            </a:pPr>
            <a:r>
              <a:t>Active Prevention, Not Passive Forensics</a:t>
            </a:r>
          </a:p>
          <a:p>
            <a:pPr>
              <a:spcAft>
                <a:spcPts val="800"/>
              </a:spcAft>
              <a:defRPr sz="950">
                <a:solidFill>
                  <a:srgbClr val="94A3B8"/>
                </a:solidFill>
              </a:defRPr>
            </a:pPr>
            <a:r>
              <a:t>Closes the critical gap between machine learning telemetry and automated operational policy enforcement (ALLOW / VERIFY / HOLD).</a:t>
            </a:r>
          </a:p>
          <a:p>
            <a:pPr>
              <a:defRPr b="1" sz="1050">
                <a:solidFill>
                  <a:srgbClr val="F8FAFC"/>
                </a:solidFill>
              </a:defRPr>
            </a:pPr>
            <a:r>
              <a:t>Cryptographic Accountability</a:t>
            </a:r>
          </a:p>
          <a:p>
            <a:pPr>
              <a:spcAft>
                <a:spcPts val="800"/>
              </a:spcAft>
              <a:defRPr sz="950">
                <a:solidFill>
                  <a:srgbClr val="94A3B8"/>
                </a:solidFill>
              </a:defRPr>
            </a:pPr>
            <a:r>
              <a:t>Provides an immutable, tamper-evident SHA-256 audit ledger that satisfies regulatory scrutiny and court admissibility without blockchain overhead.</a:t>
            </a:r>
          </a:p>
        </p:txBody>
      </p:sp>
      <p:sp>
        <p:nvSpPr>
          <p:cNvPr id="9" name="Rounded Rectangle 8"/>
          <p:cNvSpPr/>
          <p:nvPr/>
        </p:nvSpPr>
        <p:spPr>
          <a:xfrm>
            <a:off x="6492240" y="1737360"/>
            <a:ext cx="4937760" cy="4480560"/>
          </a:xfrm>
          <a:prstGeom prst="roundRect">
            <a:avLst/>
          </a:prstGeom>
          <a:solidFill>
            <a:srgbClr val="131B2E"/>
          </a:solidFill>
          <a:ln w="15240">
            <a:solidFill>
              <a:srgbClr val="2330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20840" y="1920240"/>
            <a:ext cx="4480560" cy="365760"/>
          </a:xfrm>
          <a:prstGeom prst="rect">
            <a:avLst/>
          </a:prstGeom>
          <a:noFill/>
        </p:spPr>
        <p:txBody>
          <a:bodyPr wrap="square" lIns="0" tIns="0" rIns="0" bIns="0">
            <a:spAutoFit/>
          </a:bodyPr>
          <a:lstStyle/>
          <a:p>
            <a:pPr>
              <a:defRPr sz="1300" b="1">
                <a:solidFill>
                  <a:srgbClr val="10B981"/>
                </a:solidFill>
              </a:defRPr>
            </a:pPr>
            <a:r>
              <a:t>Strategic Development Roadmap</a:t>
            </a:r>
          </a:p>
        </p:txBody>
      </p:sp>
      <p:sp>
        <p:nvSpPr>
          <p:cNvPr id="11" name="TextBox 10"/>
          <p:cNvSpPr txBox="1"/>
          <p:nvPr/>
        </p:nvSpPr>
        <p:spPr>
          <a:xfrm>
            <a:off x="6720840" y="2240280"/>
            <a:ext cx="4480560" cy="3749039"/>
          </a:xfrm>
          <a:prstGeom prst="rect">
            <a:avLst/>
          </a:prstGeom>
          <a:noFill/>
        </p:spPr>
        <p:txBody>
          <a:bodyPr wrap="square">
            <a:spAutoFit/>
          </a:bodyPr>
          <a:lstStyle/>
          <a:p>
            <a:pPr>
              <a:defRPr b="1" sz="1000">
                <a:solidFill>
                  <a:srgbClr val="F8FAFC"/>
                </a:solidFill>
              </a:defRPr>
            </a:pPr>
            <a:r>
              <a:t>Phase 1: SIH 2026 Working Prototype (CURRENT)</a:t>
            </a:r>
          </a:p>
          <a:p>
            <a:pPr>
              <a:spcAft>
                <a:spcPts val="800"/>
              </a:spcAft>
              <a:defRPr sz="900">
                <a:solidFill>
                  <a:srgbClr val="94A3B8"/>
                </a:solidFill>
              </a:defRPr>
            </a:pPr>
            <a:r>
              <a:t>Fully functional stream ingestion, dual-ensemble scoring, real-time SOC console, Communication Sandbox, and SHA-256 ledger.</a:t>
            </a:r>
          </a:p>
          <a:p>
            <a:pPr>
              <a:defRPr b="1" sz="1000">
                <a:solidFill>
                  <a:srgbClr val="F8FAFC"/>
                </a:solidFill>
              </a:defRPr>
            </a:pPr>
            <a:r>
              <a:t>Phase 2: Pilot PBX &amp; Cloud Telephony Connector</a:t>
            </a:r>
          </a:p>
          <a:p>
            <a:pPr>
              <a:spcAft>
                <a:spcPts val="800"/>
              </a:spcAft>
              <a:defRPr sz="900">
                <a:solidFill>
                  <a:srgbClr val="94A3B8"/>
                </a:solidFill>
              </a:defRPr>
            </a:pPr>
            <a:r>
              <a:t>SIP / FreeSWITCH trunk connector plugin and Zoom/Teams app integration for automated enterprise testing.</a:t>
            </a:r>
          </a:p>
          <a:p>
            <a:pPr>
              <a:defRPr b="1" sz="1000">
                <a:solidFill>
                  <a:srgbClr val="F8FAFC"/>
                </a:solidFill>
              </a:defRPr>
            </a:pPr>
            <a:r>
              <a:t>Phase 3: Hardware Edge Appliance</a:t>
            </a:r>
          </a:p>
          <a:p>
            <a:pPr>
              <a:spcAft>
                <a:spcPts val="800"/>
              </a:spcAft>
              <a:defRPr sz="900">
                <a:solidFill>
                  <a:srgbClr val="94A3B8"/>
                </a:solidFill>
              </a:defRPr>
            </a:pPr>
            <a:r>
              <a:t>Containerized micro-appliance deployment with NVIDIA TensorRT acceleration for air-gapped banking data centers.</a:t>
            </a:r>
          </a:p>
          <a:p>
            <a:pPr>
              <a:defRPr b="1" sz="1000">
                <a:solidFill>
                  <a:srgbClr val="F8FAFC"/>
                </a:solidFill>
              </a:defRPr>
            </a:pPr>
            <a:r>
              <a:t>Phase 4: Telecom Carrier SDK (Telco Layer)</a:t>
            </a:r>
          </a:p>
          <a:p>
            <a:pPr>
              <a:defRPr sz="900">
                <a:solidFill>
                  <a:srgbClr val="94A3B8"/>
                </a:solidFill>
              </a:defRPr>
            </a:pPr>
            <a:r>
              <a:t>Partnering with Indian telecom operators (Jio/Airtel/BSNL) to explore inline network-level scam call filtering under DoT/TRAI guidance.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